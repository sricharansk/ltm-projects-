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777240"/>
            <a:ext cx="777240" cy="777240"/>
          </a:xfrm>
          <a:prstGeom prst="ellipse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52760" y="1572768"/>
            <a:ext cx="384048" cy="384048"/>
          </a:xfrm>
          <a:prstGeom prst="ellipse">
            <a:avLst/>
          </a:prstGeom>
          <a:solidFill>
            <a:srgbClr val="4A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23960" y="2148840"/>
            <a:ext cx="457200" cy="457200"/>
          </a:xfrm>
          <a:prstGeom prst="ellipse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89920" y="3337560"/>
            <a:ext cx="713232" cy="713232"/>
          </a:xfrm>
          <a:prstGeom prst="ellipse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098280" y="5029200"/>
            <a:ext cx="310896" cy="310896"/>
          </a:xfrm>
          <a:prstGeom prst="ellipse">
            <a:avLst/>
          </a:prstGeom>
          <a:solidFill>
            <a:srgbClr val="4A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5559552"/>
            <a:ext cx="530352" cy="530352"/>
          </a:xfrm>
          <a:prstGeom prst="ellipse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10928" y="1170432"/>
            <a:ext cx="1124712" cy="594360"/>
          </a:xfrm>
          <a:prstGeom prst="line">
            <a:avLst/>
          </a:prstGeom>
          <a:ln w="12700">
            <a:solidFill>
              <a:srgbClr val="466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89720" y="2395728"/>
            <a:ext cx="1874520" cy="1280159"/>
          </a:xfrm>
          <a:prstGeom prst="line">
            <a:avLst/>
          </a:prstGeom>
          <a:ln w="12700">
            <a:solidFill>
              <a:srgbClr val="466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89720" y="2395728"/>
            <a:ext cx="64008" cy="2798064"/>
          </a:xfrm>
          <a:prstGeom prst="line">
            <a:avLst/>
          </a:prstGeom>
          <a:ln w="12700">
            <a:solidFill>
              <a:srgbClr val="466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53728" y="5193792"/>
            <a:ext cx="932688" cy="612648"/>
          </a:xfrm>
          <a:prstGeom prst="line">
            <a:avLst/>
          </a:prstGeom>
          <a:ln w="12700">
            <a:solidFill>
              <a:srgbClr val="466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868680"/>
            <a:ext cx="7772400" cy="11155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Project 1: Claim Sense: RAG-Based Insurance Claims Adjudication &amp; Policy Knowledge Assistant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212848"/>
            <a:ext cx="7223760" cy="36576"/>
          </a:xfrm>
          <a:prstGeom prst="rect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697480"/>
            <a:ext cx="7955279" cy="11430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Project 2: Site Guard AI — Multi-Agent Construction Safety &amp; Quality Incident Resolution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133087"/>
            <a:ext cx="7223760" cy="36576"/>
          </a:xfrm>
          <a:prstGeom prst="rect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5047488"/>
            <a:ext cx="1069848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Name: S K Sricharan - VIT Chennai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504688"/>
            <a:ext cx="1069848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1500" b="0">
                <a:solidFill>
                  <a:srgbClr val="C7D6E5"/>
                </a:solidFill>
                <a:latin typeface="Aptos"/>
              </a:defRPr>
            </a:pPr>
            <a:r>
              <a:t>T-Series ID: 9984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2B6BC4"/>
                </a:solidFill>
                <a:latin typeface="Aptos"/>
              </a:defRPr>
            </a:pPr>
            <a:r>
              <a:t>PROJECT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>
                <a:solidFill>
                  <a:srgbClr val="101F30"/>
                </a:solidFill>
                <a:latin typeface="Aptos"/>
              </a:defRPr>
            </a:pPr>
            <a:r>
              <a:t>Claim Sense — Problem Statement &amp; Detailed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43000" cy="36576"/>
          </a:xfrm>
          <a:prstGeom prst="rect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794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8580" cy="4480560"/>
          </a:xfrm>
          <a:prstGeom prst="rect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3483864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240" b="1">
                <a:solidFill>
                  <a:srgbClr val="101F30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9092"/>
            <a:ext cx="3429000" cy="3931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40" b="0">
                <a:solidFill>
                  <a:srgbClr val="23303E"/>
                </a:solidFill>
                <a:latin typeface="Aptos"/>
              </a:defRPr>
            </a:pPr>
            <a:r>
              <a:rPr dirty="0"/>
              <a:t>P&amp;C and health insurers process thousands of claims monthly. Each decision requires cross-referencing the customer's policy, coverage exclusions, past claim precedents and regulatory/compliance guidance. These documents are long and scattered across systems, so manual adjudication can take 5–10 days and may produce inconsistent decisions and claim leakage from missed exclusion clauses.</a:t>
            </a:r>
            <a:br>
              <a:rPr dirty="0"/>
            </a:br>
            <a:br>
              <a:rPr dirty="0"/>
            </a:br>
            <a:r>
              <a:rPr dirty="0"/>
              <a:t>Proposed solution: a RAG-based assistant that ingests structured claim data plus a free-text incident description, retrieves relevant evidence, estimates fraud/anomaly risk and produces a structured, citation-backed recommendation.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4608576"/>
            <a:ext cx="804672" cy="804672"/>
          </a:xfrm>
          <a:prstGeom prst="ellipse">
            <a:avLst/>
          </a:prstGeom>
          <a:solidFill>
            <a:srgbClr val="FF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80467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1500" b="1">
                <a:solidFill>
                  <a:srgbClr val="E4A23A"/>
                </a:solidFill>
                <a:latin typeface="Aptos"/>
              </a:defRPr>
            </a:pPr>
            <a:r>
              <a:rPr dirty="0"/>
              <a:t>5–10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512562"/>
            <a:ext cx="114300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730" b="0">
                <a:solidFill>
                  <a:srgbClr val="637181"/>
                </a:solidFill>
                <a:latin typeface="Aptos"/>
              </a:defRPr>
            </a:pPr>
            <a:r>
              <a:rPr dirty="0"/>
              <a:t>days manual turnaround</a:t>
            </a:r>
          </a:p>
        </p:txBody>
      </p:sp>
      <p:sp>
        <p:nvSpPr>
          <p:cNvPr id="14" name="Oval 13"/>
          <p:cNvSpPr/>
          <p:nvPr/>
        </p:nvSpPr>
        <p:spPr>
          <a:xfrm>
            <a:off x="1837944" y="4608576"/>
            <a:ext cx="804672" cy="804672"/>
          </a:xfrm>
          <a:prstGeom prst="ellipse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37944" y="4901184"/>
            <a:ext cx="80467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1500" b="1">
                <a:solidFill>
                  <a:srgbClr val="C34E4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4" y="5533771"/>
            <a:ext cx="114300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730" b="0">
                <a:solidFill>
                  <a:srgbClr val="637181"/>
                </a:solidFill>
                <a:latin typeface="Aptos"/>
              </a:defRPr>
            </a:pPr>
            <a:r>
              <a:rPr dirty="0"/>
              <a:t>risk levels: Low / Med / High</a:t>
            </a:r>
          </a:p>
        </p:txBody>
      </p:sp>
      <p:sp>
        <p:nvSpPr>
          <p:cNvPr id="17" name="Oval 16"/>
          <p:cNvSpPr/>
          <p:nvPr/>
        </p:nvSpPr>
        <p:spPr>
          <a:xfrm>
            <a:off x="2935224" y="4603919"/>
            <a:ext cx="804672" cy="804672"/>
          </a:xfrm>
          <a:prstGeom prst="ellipse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35224" y="4937083"/>
            <a:ext cx="80467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1500" b="1">
                <a:solidFill>
                  <a:srgbClr val="2B6BC4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516118"/>
            <a:ext cx="114300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730" b="0">
                <a:solidFill>
                  <a:srgbClr val="637181"/>
                </a:solidFill>
                <a:latin typeface="Aptos"/>
              </a:defRPr>
            </a:pPr>
            <a:r>
              <a:rPr dirty="0"/>
              <a:t>decision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426464"/>
            <a:ext cx="69037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60" b="1">
                <a:solidFill>
                  <a:srgbClr val="101F30"/>
                </a:solidFill>
                <a:latin typeface="Aptos"/>
              </a:defRPr>
            </a:pPr>
            <a:r>
              <a:t>2. Objectives — what the system will generate and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1810512"/>
            <a:ext cx="32004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45736" y="1984248"/>
            <a:ext cx="438912" cy="438912"/>
          </a:xfrm>
          <a:prstGeom prst="ellipse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5736" y="2093976"/>
            <a:ext cx="438912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1920240"/>
            <a:ext cx="2331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Synthetic data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2167128"/>
            <a:ext cx="233172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50" b="0">
                <a:solidFill>
                  <a:srgbClr val="637181"/>
                </a:solidFill>
                <a:latin typeface="Aptos"/>
              </a:defRPr>
            </a:pPr>
            <a:r>
              <a:t>Create realistic policy documents, claims and claim-history datasets for model and workflow testing.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810512"/>
            <a:ext cx="32004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174736" y="1984248"/>
            <a:ext cx="438912" cy="438912"/>
          </a:xfrm>
          <a:prstGeom prst="ellipse">
            <a:avLst/>
          </a:prstGeom>
          <a:solidFill>
            <a:srgbClr val="4A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74736" y="2093976"/>
            <a:ext cx="438912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4" y="1920240"/>
            <a:ext cx="2331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RAG knowledge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1664" y="2167128"/>
            <a:ext cx="233172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50" b="0">
                <a:solidFill>
                  <a:srgbClr val="637181"/>
                </a:solidFill>
                <a:latin typeface="Aptos"/>
              </a:defRPr>
            </a:pPr>
            <a:r>
              <a:t>Index policy wordings, riders, exclusion clauses, IRDAI/regulatory circulars and investigation SOPs.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2944368"/>
            <a:ext cx="32004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745736" y="3118103"/>
            <a:ext cx="438912" cy="438912"/>
          </a:xfrm>
          <a:prstGeom prst="ellipse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5736" y="3227832"/>
            <a:ext cx="438912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2664" y="3054096"/>
            <a:ext cx="2331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Risk classification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2664" y="3300984"/>
            <a:ext cx="233172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50" b="0">
                <a:solidFill>
                  <a:srgbClr val="637181"/>
                </a:solidFill>
                <a:latin typeface="Aptos"/>
              </a:defRPr>
            </a:pPr>
            <a:r>
              <a:t>Use structured claim features to classify fraud/anomaly risk as Low, Medium or High.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944368"/>
            <a:ext cx="32004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174736" y="3118103"/>
            <a:ext cx="438912" cy="438912"/>
          </a:xfrm>
          <a:prstGeom prst="ellipse">
            <a:avLst/>
          </a:prstGeom>
          <a:solidFill>
            <a:srgbClr val="4A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74736" y="3227832"/>
            <a:ext cx="438912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3054096"/>
            <a:ext cx="2331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Evidence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300984"/>
            <a:ext cx="233172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50" b="0">
                <a:solidFill>
                  <a:srgbClr val="637181"/>
                </a:solidFill>
                <a:latin typeface="Aptos"/>
              </a:defRPr>
            </a:pPr>
            <a:r>
              <a:t>Retrieve the exact clause(s) applicable to the submitted claim and present them as citations.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4078224"/>
            <a:ext cx="32004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745736" y="4251960"/>
            <a:ext cx="438912" cy="438912"/>
          </a:xfrm>
          <a:prstGeom prst="ellipse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5736" y="4361688"/>
            <a:ext cx="438912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2664" y="4187952"/>
            <a:ext cx="2331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Explainable adjudication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434840"/>
            <a:ext cx="233172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50" b="0">
                <a:solidFill>
                  <a:srgbClr val="637181"/>
                </a:solidFill>
                <a:latin typeface="Aptos"/>
              </a:defRPr>
            </a:pPr>
            <a:r>
              <a:t>Generate Approve, Investigate or Deny recommendations with supporting reasoning and evidence.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4078224"/>
            <a:ext cx="32004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174736" y="4251960"/>
            <a:ext cx="438912" cy="438912"/>
          </a:xfrm>
          <a:prstGeom prst="ellipse">
            <a:avLst/>
          </a:prstGeom>
          <a:solidFill>
            <a:srgbClr val="4A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74736" y="4361688"/>
            <a:ext cx="438912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187952"/>
            <a:ext cx="2331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Operational delivery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41664" y="4434840"/>
            <a:ext cx="233172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50" b="0">
                <a:solidFill>
                  <a:srgbClr val="637181"/>
                </a:solidFill>
                <a:latin typeface="Aptos"/>
              </a:defRPr>
            </a:pPr>
            <a:r>
              <a:t>Provide an adjuster-facing dashboard and support scalable Azure deployment with MLOps / CI-CD.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419088"/>
            <a:ext cx="11045952" cy="13716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19" b="0">
                <a:solidFill>
                  <a:srgbClr val="637181"/>
                </a:solidFill>
                <a:latin typeface="Aptos"/>
              </a:defRPr>
            </a:pPr>
            <a:r>
              <a:t>S K Sricharan  •  VIT Chennai  •  T-Series ID: 9984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92240"/>
            <a:ext cx="5486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19" b="0">
                <a:solidFill>
                  <a:srgbClr val="637181"/>
                </a:solidFill>
                <a:latin typeface="Aptos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2B6BC4"/>
                </a:solidFill>
                <a:latin typeface="Aptos"/>
              </a:defRPr>
            </a:pPr>
            <a:r>
              <a:t>PROJECT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>
                <a:solidFill>
                  <a:srgbClr val="101F30"/>
                </a:solidFill>
                <a:latin typeface="Aptos"/>
              </a:defRPr>
            </a:pPr>
            <a:r>
              <a:t>Dataset Generation, Objective Relevance, Technical Stack &amp;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43000" cy="36576"/>
          </a:xfrm>
          <a:prstGeom prst="rect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749039" cy="477316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68580" cy="4773168"/>
          </a:xfrm>
          <a:prstGeom prst="rect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99616"/>
            <a:ext cx="3438144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240" b="1">
                <a:solidFill>
                  <a:srgbClr val="101F30"/>
                </a:solidFill>
                <a:latin typeface="Aptos"/>
              </a:defRPr>
            </a:pPr>
            <a:r>
              <a:t>3. Dataset — Generation &amp;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3383279" cy="42245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50" b="0">
                <a:solidFill>
                  <a:srgbClr val="23303E"/>
                </a:solidFill>
                <a:latin typeface="Aptos"/>
              </a:defRPr>
            </a:pPr>
            <a:r>
              <a:t>How generated: create synthetic policies, claims and claim-history records with Python-based templates and realistic distributions. Vary claim amount, sum insured, policy tenure, days since policy start, prior claim count, claim type, location, time pattern and claimant-history flags.</a:t>
            </a:r>
            <a:br/>
            <a:br/>
            <a:r>
              <a:t>Knowledge corpus: policy wordings/riders, exclusion libraries, regulatory circulars, historical precedents and claims-investigation SOPs.</a:t>
            </a:r>
            <a:br/>
            <a:br/>
            <a:r>
              <a:t>Relevance: structured records train/test risk classification; documents populate the RAG store; combined inputs validate citation-backed adjudication without exposing sensitive customer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71600"/>
            <a:ext cx="3429000" cy="477316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545336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>
                <a:solidFill>
                  <a:srgbClr val="101F30"/>
                </a:solidFill>
                <a:latin typeface="Aptos"/>
              </a:defRPr>
            </a:pPr>
            <a:r>
              <a:t>4. Technical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1901952"/>
            <a:ext cx="2999232" cy="356616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8032" y="197510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2B6BC4"/>
                </a:solidFill>
                <a:latin typeface="Aptos"/>
              </a:defRPr>
            </a:pPr>
            <a:r>
              <a:t>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1965960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2295144"/>
            <a:ext cx="2999232" cy="356616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28032" y="2368296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199D92"/>
                </a:solidFill>
                <a:latin typeface="Aptos"/>
              </a:defRPr>
            </a:pPr>
            <a:r>
              <a:t>RAG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359152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LangChain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2688336"/>
            <a:ext cx="2999232" cy="356616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8032" y="2761488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2B6BC4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752344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Sentence Transformers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6592" y="3081528"/>
            <a:ext cx="2999232" cy="356616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3154680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199D92"/>
                </a:solidFill>
                <a:latin typeface="Aptos"/>
              </a:defRPr>
            </a:pPr>
            <a:r>
              <a:t>Vector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145536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FAISS / ChromaDB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3474720"/>
            <a:ext cx="2999232" cy="356616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2" y="3547872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2B6BC4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3538728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Azure OpenAI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6592" y="3867912"/>
            <a:ext cx="2999232" cy="356616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8032" y="394106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199D92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3931920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Scikit-learn + XGBoost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6592" y="4261104"/>
            <a:ext cx="2999232" cy="356616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4334256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2B6BC4"/>
                </a:solidFill>
                <a:latin typeface="Aptos"/>
              </a:defRPr>
            </a:pPr>
            <a:r>
              <a:t>MLOps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325112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MLflow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36592" y="4654296"/>
            <a:ext cx="2999232" cy="356616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28032" y="4727448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199D92"/>
                </a:solidFill>
                <a:latin typeface="Aptos"/>
              </a:defRPr>
            </a:pPr>
            <a:r>
              <a:t>Data /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4718304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Pandas • NumPy • Spark • PostgreSQL / Azure 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36592" y="5047488"/>
            <a:ext cx="2999232" cy="356616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28032" y="5120640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2B6BC4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5111496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Docker → ACR → AKS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36592" y="5440679"/>
            <a:ext cx="2999232" cy="356616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28032" y="5513831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1">
                <a:solidFill>
                  <a:srgbClr val="199D92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0448" y="5504688"/>
            <a:ext cx="1700784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Azure Monitor + Blob Storage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65592" y="1371600"/>
            <a:ext cx="3447288" cy="477316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94192" y="1545336"/>
            <a:ext cx="283464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>
                <a:solidFill>
                  <a:srgbClr val="101F30"/>
                </a:solidFill>
                <a:latin typeface="Aptos"/>
              </a:defRPr>
            </a:pPr>
            <a:r>
              <a:t>5. Expected Outcomes</a:t>
            </a:r>
          </a:p>
        </p:txBody>
      </p:sp>
      <p:sp>
        <p:nvSpPr>
          <p:cNvPr id="45" name="Oval 44"/>
          <p:cNvSpPr/>
          <p:nvPr/>
        </p:nvSpPr>
        <p:spPr>
          <a:xfrm>
            <a:off x="8394192" y="1901952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23376" y="1892808"/>
            <a:ext cx="2651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80" b="0">
                <a:solidFill>
                  <a:srgbClr val="23303E"/>
                </a:solidFill>
                <a:latin typeface="Aptos"/>
              </a:defRPr>
            </a:pPr>
            <a:r>
              <a:t>Faster, more consistent claim triage and reduced manual cross-referencing.</a:t>
            </a:r>
          </a:p>
        </p:txBody>
      </p:sp>
      <p:sp>
        <p:nvSpPr>
          <p:cNvPr id="47" name="Oval 46"/>
          <p:cNvSpPr/>
          <p:nvPr/>
        </p:nvSpPr>
        <p:spPr>
          <a:xfrm>
            <a:off x="8394192" y="2459736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23376" y="2450592"/>
            <a:ext cx="2651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80" b="0">
                <a:solidFill>
                  <a:srgbClr val="23303E"/>
                </a:solidFill>
                <a:latin typeface="Aptos"/>
              </a:defRPr>
            </a:pPr>
            <a:r>
              <a:t>Fraud/anomaly risk visibility for prioritizing investigations.</a:t>
            </a:r>
          </a:p>
        </p:txBody>
      </p:sp>
      <p:sp>
        <p:nvSpPr>
          <p:cNvPr id="49" name="Oval 48"/>
          <p:cNvSpPr/>
          <p:nvPr/>
        </p:nvSpPr>
        <p:spPr>
          <a:xfrm>
            <a:off x="8394192" y="3017520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23376" y="3008376"/>
            <a:ext cx="2651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80" b="0">
                <a:solidFill>
                  <a:srgbClr val="23303E"/>
                </a:solidFill>
                <a:latin typeface="Aptos"/>
              </a:defRPr>
            </a:pPr>
            <a:r>
              <a:t>Exact policy-clause citations for explainability and auditability.</a:t>
            </a:r>
          </a:p>
        </p:txBody>
      </p:sp>
      <p:sp>
        <p:nvSpPr>
          <p:cNvPr id="51" name="Oval 50"/>
          <p:cNvSpPr/>
          <p:nvPr/>
        </p:nvSpPr>
        <p:spPr>
          <a:xfrm>
            <a:off x="8394192" y="3575303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23376" y="3566160"/>
            <a:ext cx="2651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80" b="0">
                <a:solidFill>
                  <a:srgbClr val="23303E"/>
                </a:solidFill>
                <a:latin typeface="Aptos"/>
              </a:defRPr>
            </a:pPr>
            <a:r>
              <a:t>Reduced missed exclusions and potential over/under-payment leakage.</a:t>
            </a:r>
          </a:p>
        </p:txBody>
      </p:sp>
      <p:sp>
        <p:nvSpPr>
          <p:cNvPr id="53" name="Oval 52"/>
          <p:cNvSpPr/>
          <p:nvPr/>
        </p:nvSpPr>
        <p:spPr>
          <a:xfrm>
            <a:off x="8394192" y="4133087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23376" y="4123944"/>
            <a:ext cx="2651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80" b="0">
                <a:solidFill>
                  <a:srgbClr val="23303E"/>
                </a:solidFill>
                <a:latin typeface="Aptos"/>
              </a:defRPr>
            </a:pPr>
            <a:r>
              <a:t>Human-in-the-loop adjuster review through an interactive dashboard.</a:t>
            </a:r>
          </a:p>
        </p:txBody>
      </p:sp>
      <p:sp>
        <p:nvSpPr>
          <p:cNvPr id="55" name="Oval 54"/>
          <p:cNvSpPr/>
          <p:nvPr/>
        </p:nvSpPr>
        <p:spPr>
          <a:xfrm>
            <a:off x="8394192" y="4690872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23376" y="4681728"/>
            <a:ext cx="2651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80" b="0">
                <a:solidFill>
                  <a:srgbClr val="23303E"/>
                </a:solidFill>
                <a:latin typeface="Aptos"/>
              </a:defRPr>
            </a:pPr>
            <a:r>
              <a:t>Cloud-ready, monitored and reproducible deployment pipeline.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4192" y="5358384"/>
            <a:ext cx="28346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50" b="1">
                <a:solidFill>
                  <a:srgbClr val="101F30"/>
                </a:solidFill>
                <a:latin typeface="Aptos"/>
              </a:defRPr>
            </a:pPr>
            <a:r>
              <a:t>Final system output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94192" y="5632704"/>
            <a:ext cx="932688" cy="292608"/>
          </a:xfrm>
          <a:prstGeom prst="roundRect">
            <a:avLst/>
          </a:prstGeom>
          <a:solidFill>
            <a:srgbClr val="C3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94192" y="5701284"/>
            <a:ext cx="932688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00032" y="5632704"/>
            <a:ext cx="932688" cy="292608"/>
          </a:xfrm>
          <a:prstGeom prst="roundRect">
            <a:avLst/>
          </a:prstGeom>
          <a:solidFill>
            <a:srgbClr val="2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00032" y="5701284"/>
            <a:ext cx="932688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05872" y="5632704"/>
            <a:ext cx="932688" cy="292608"/>
          </a:xfrm>
          <a:prstGeom prst="roundRect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405872" y="5701284"/>
            <a:ext cx="932688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Aptos"/>
              </a:defRPr>
            </a:pPr>
            <a:r>
              <a:t>Cited Clause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6419088"/>
            <a:ext cx="11045952" cy="13716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19" b="0">
                <a:solidFill>
                  <a:srgbClr val="637181"/>
                </a:solidFill>
                <a:latin typeface="Aptos"/>
              </a:defRPr>
            </a:pPr>
            <a:r>
              <a:t>S K Sricharan  •  VIT Chennai  •  T-Series ID: 9984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492240"/>
            <a:ext cx="5486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19" b="0">
                <a:solidFill>
                  <a:srgbClr val="637181"/>
                </a:solidFill>
                <a:latin typeface="Aptos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99D92"/>
                </a:solidFill>
                <a:latin typeface="Aptos"/>
              </a:defRPr>
            </a:pPr>
            <a:r>
              <a:t>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>
                <a:solidFill>
                  <a:srgbClr val="101F30"/>
                </a:solidFill>
                <a:latin typeface="Aptos"/>
              </a:defRPr>
            </a:pPr>
            <a:r>
              <a:t>Site Guard AI — Problem Statement &amp; Detailed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43000" cy="36576"/>
          </a:xfrm>
          <a:prstGeom prst="rect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73075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68580" cy="4526280"/>
          </a:xfrm>
          <a:prstGeom prst="rect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3419856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240" b="1">
                <a:solidFill>
                  <a:srgbClr val="101F30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3364992" cy="3977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0">
                <a:solidFill>
                  <a:srgbClr val="23303E"/>
                </a:solidFill>
                <a:latin typeface="Aptos"/>
              </a:defRPr>
            </a:pPr>
            <a:r>
              <a:t>Large EPC construction sites generate thousands of safety observations, near-miss reports, quality non-conformance reports (NCRs) and daily progress reports (DPRs) across multiple contractors. Site engineers manually cross-reference IS codes, OSHA/BOCW safety norms and past incident logs. This can take hours per incident, while root causes are inconsistently tracked, leading to repeat safety violations and project delays.</a:t>
            </a:r>
            <a:br/>
            <a:br/>
            <a:r>
              <a:t>The proposed system is a LangGraph-based multi-agent workflow for physical-site safety and quality incident triage — distinct from SOC alerts, real-estate diligence or IT-operations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230368"/>
            <a:ext cx="89611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1400" b="1">
                <a:solidFill>
                  <a:srgbClr val="199D9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541264"/>
            <a:ext cx="107899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740" b="0">
                <a:solidFill>
                  <a:srgbClr val="637181"/>
                </a:solidFill>
                <a:latin typeface="Aptos"/>
              </a:defRPr>
            </a:pPr>
            <a:r>
              <a:t>specialized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9655" y="5230368"/>
            <a:ext cx="89611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1400" b="1">
                <a:solidFill>
                  <a:srgbClr val="E4A23A"/>
                </a:solidFill>
                <a:latin typeface="Aptos"/>
              </a:defRPr>
            </a:pPr>
            <a:r>
              <a:t>5K–15K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5" y="5541264"/>
            <a:ext cx="107899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740" b="0">
                <a:solidFill>
                  <a:srgbClr val="637181"/>
                </a:solidFill>
                <a:latin typeface="Aptos"/>
              </a:defRPr>
            </a:pPr>
            <a:r>
              <a:t>synthetic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3" y="5230368"/>
            <a:ext cx="89611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1400" b="1">
                <a:solidFill>
                  <a:srgbClr val="2B6BC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3" y="5541264"/>
            <a:ext cx="1078992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740" b="0">
                <a:solidFill>
                  <a:srgbClr val="637181"/>
                </a:solidFill>
                <a:latin typeface="Aptos"/>
              </a:defRPr>
            </a:pPr>
            <a:r>
              <a:t>construction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426464"/>
            <a:ext cx="694944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60" b="1">
                <a:solidFill>
                  <a:srgbClr val="101F30"/>
                </a:solidFill>
                <a:latin typeface="Aptos"/>
              </a:defRPr>
            </a:pPr>
            <a:r>
              <a:t>2. Objectives — multi-agent incident resolution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1810512"/>
            <a:ext cx="681228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718304" y="1956816"/>
            <a:ext cx="402336" cy="402336"/>
          </a:xfrm>
          <a:prstGeom prst="ellipse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8304" y="2057400"/>
            <a:ext cx="402336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911095"/>
            <a:ext cx="15087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Intake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1920240"/>
            <a:ext cx="416052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90" b="0">
                <a:solidFill>
                  <a:srgbClr val="23303E"/>
                </a:solidFill>
                <a:latin typeface="Aptos"/>
              </a:defRPr>
            </a:pPr>
            <a:r>
              <a:t>Structure free-text reports into site, contractor, severity and trade fields.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19472" y="2505456"/>
            <a:ext cx="0" cy="128016"/>
          </a:xfrm>
          <a:prstGeom prst="line">
            <a:avLst/>
          </a:prstGeom>
          <a:ln w="13970">
            <a:solidFill>
              <a:srgbClr val="199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53712" y="2642616"/>
            <a:ext cx="681228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718304" y="2788920"/>
            <a:ext cx="402336" cy="402336"/>
          </a:xfrm>
          <a:prstGeom prst="ellipse">
            <a:avLst/>
          </a:prstGeom>
          <a:solidFill>
            <a:srgbClr val="4A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18304" y="2889504"/>
            <a:ext cx="402336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743200"/>
            <a:ext cx="15087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Retrieval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752344"/>
            <a:ext cx="416052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90" b="0">
                <a:solidFill>
                  <a:srgbClr val="23303E"/>
                </a:solidFill>
                <a:latin typeface="Aptos"/>
              </a:defRPr>
            </a:pPr>
            <a:r>
              <a:t>Use RAG to retrieve IS codes, BOCW regulations, site SOPs and past incidents.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19472" y="3337560"/>
            <a:ext cx="0" cy="128016"/>
          </a:xfrm>
          <a:prstGeom prst="line">
            <a:avLst/>
          </a:prstGeom>
          <a:ln w="13970">
            <a:solidFill>
              <a:srgbClr val="199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53712" y="3474720"/>
            <a:ext cx="681228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718304" y="3621024"/>
            <a:ext cx="402336" cy="402336"/>
          </a:xfrm>
          <a:prstGeom prst="ellipse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18304" y="3721608"/>
            <a:ext cx="402336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575304"/>
            <a:ext cx="15087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Root-Cause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584448"/>
            <a:ext cx="416052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90" b="0">
                <a:solidFill>
                  <a:srgbClr val="23303E"/>
                </a:solidFill>
                <a:latin typeface="Aptos"/>
              </a:defRPr>
            </a:pPr>
            <a:r>
              <a:t>Analyze likely causes against a construction-specific FMEA / 5-Why knowledge library.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19472" y="4169664"/>
            <a:ext cx="0" cy="128016"/>
          </a:xfrm>
          <a:prstGeom prst="line">
            <a:avLst/>
          </a:prstGeom>
          <a:ln w="13970">
            <a:solidFill>
              <a:srgbClr val="199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53712" y="4306824"/>
            <a:ext cx="681228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718304" y="4453128"/>
            <a:ext cx="402336" cy="402336"/>
          </a:xfrm>
          <a:prstGeom prst="ellipse">
            <a:avLst/>
          </a:prstGeom>
          <a:solidFill>
            <a:srgbClr val="4A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18304" y="4553712"/>
            <a:ext cx="402336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407408"/>
            <a:ext cx="15087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Corrective Action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4416552"/>
            <a:ext cx="416052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90" b="0">
                <a:solidFill>
                  <a:srgbClr val="23303E"/>
                </a:solidFill>
                <a:latin typeface="Aptos"/>
              </a:defRPr>
            </a:pPr>
            <a:r>
              <a:t>Draft CAPA with corrective/preventive action, responsible party and due date.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919472" y="5001768"/>
            <a:ext cx="0" cy="128016"/>
          </a:xfrm>
          <a:prstGeom prst="line">
            <a:avLst/>
          </a:prstGeom>
          <a:ln w="13970">
            <a:solidFill>
              <a:srgbClr val="199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553712" y="5138928"/>
            <a:ext cx="681228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718304" y="5285232"/>
            <a:ext cx="402336" cy="402336"/>
          </a:xfrm>
          <a:prstGeom prst="ellipse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18304" y="5385816"/>
            <a:ext cx="402336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5239512"/>
            <a:ext cx="15087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01F30"/>
                </a:solidFill>
                <a:latin typeface="Aptos"/>
              </a:defRPr>
            </a:pPr>
            <a:r>
              <a:t>Escalation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5248656"/>
            <a:ext cx="416052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90" b="0">
                <a:solidFill>
                  <a:srgbClr val="23303E"/>
                </a:solidFill>
                <a:latin typeface="Aptos"/>
              </a:defRPr>
            </a:pPr>
            <a:r>
              <a:t>Automatically flag Critical or repeat violations to the appropriate safety officer.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0" y="5989320"/>
            <a:ext cx="6720840" cy="292608"/>
          </a:xfrm>
          <a:prstGeom prst="roundRect">
            <a:avLst/>
          </a:prstGeom>
          <a:solidFill>
            <a:srgbClr val="10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0" y="6057900"/>
            <a:ext cx="67208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Aptos"/>
              </a:defRPr>
            </a:pPr>
            <a:r>
              <a:t>Incident → Evidence → Root Cause → CAPA → Escalation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419088"/>
            <a:ext cx="11045952" cy="13716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19" b="0">
                <a:solidFill>
                  <a:srgbClr val="637181"/>
                </a:solidFill>
                <a:latin typeface="Aptos"/>
              </a:defRPr>
            </a:pPr>
            <a:r>
              <a:t>S K Sricharan  •  VIT Chennai  •  T-Series ID: 9984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5486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19" b="0">
                <a:solidFill>
                  <a:srgbClr val="637181"/>
                </a:solidFill>
                <a:latin typeface="Aptos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000" b="1">
                <a:solidFill>
                  <a:srgbClr val="199D92"/>
                </a:solidFill>
                <a:latin typeface="Aptos"/>
              </a:defRPr>
            </a:pPr>
            <a:r>
              <a:t>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2400" b="1">
                <a:solidFill>
                  <a:srgbClr val="101F30"/>
                </a:solidFill>
                <a:latin typeface="Aptos"/>
              </a:defRPr>
            </a:pPr>
            <a:r>
              <a:t>Dataset Generation, Objective Relevance, Technical Stack &amp;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43000" cy="36576"/>
          </a:xfrm>
          <a:prstGeom prst="rect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730752" cy="477316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68580" cy="4773168"/>
          </a:xfrm>
          <a:prstGeom prst="rect">
            <a:avLst/>
          </a:prstGeom>
          <a:solidFill>
            <a:srgbClr val="19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99616"/>
            <a:ext cx="3419856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240" b="1">
                <a:solidFill>
                  <a:srgbClr val="101F30"/>
                </a:solidFill>
                <a:latin typeface="Aptos"/>
              </a:defRPr>
            </a:pPr>
            <a:r>
              <a:t>3. Dataset — Generation &amp;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3364992" cy="42245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69" b="0">
                <a:solidFill>
                  <a:srgbClr val="23303E"/>
                </a:solidFill>
                <a:latin typeface="Aptos"/>
              </a:defRPr>
            </a:pPr>
            <a:r>
              <a:t>How generated: create 5,000–15,000 synthetic records that simulate multiple construction sites, trades and contractors. Include DPRs, safety observations, near-miss reports, quality NCRs, severity metadata, contractor/trade details, CAPA records and historical incident patterns.</a:t>
            </a:r>
            <a:br/>
            <a:br/>
            <a:r>
              <a:t>Relevance to objectives: free-text reports test the Intake Agent; standards/SOP and past-incident corpus test Retrieval; incident patterns support Root-Cause analysis; CAPA fields validate action generation; severity and repeat-history rules validate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71600"/>
            <a:ext cx="3456432" cy="477316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545336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>
                <a:solidFill>
                  <a:srgbClr val="101F30"/>
                </a:solidFill>
                <a:latin typeface="Aptos"/>
              </a:defRPr>
            </a:pPr>
            <a:r>
              <a:t>4. Technical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1938528"/>
            <a:ext cx="3017520" cy="438912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029968"/>
            <a:ext cx="10241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1">
                <a:solidFill>
                  <a:srgbClr val="199D92"/>
                </a:solidFill>
                <a:latin typeface="Aptos"/>
              </a:defRPr>
            </a:pPr>
            <a:r>
              <a:t>Agent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020824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LangGraph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2450592"/>
            <a:ext cx="3017520" cy="438912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2542032"/>
            <a:ext cx="10241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1">
                <a:solidFill>
                  <a:srgbClr val="2B6BC4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532888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Ollama + Llama 3.1 8B / Azure OpenAI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2962656"/>
            <a:ext cx="3017520" cy="438912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054096"/>
            <a:ext cx="10241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1">
                <a:solidFill>
                  <a:srgbClr val="199D92"/>
                </a:solidFill>
                <a:latin typeface="Aptos"/>
              </a:defRPr>
            </a:pPr>
            <a:r>
              <a:t>Knowledge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3044952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ChromaDB / Qdrant + Sentence Transformers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6592" y="3474720"/>
            <a:ext cx="3017520" cy="438912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3566160"/>
            <a:ext cx="10241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1">
                <a:solidFill>
                  <a:srgbClr val="2B6BC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3557016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FastAPI + Pydantic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3986784"/>
            <a:ext cx="3017520" cy="438912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4078224"/>
            <a:ext cx="10241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1">
                <a:solidFill>
                  <a:srgbClr val="199D9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4069080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Streamlit / React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6592" y="4498848"/>
            <a:ext cx="3017520" cy="438912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4590288"/>
            <a:ext cx="10241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1">
                <a:solidFill>
                  <a:srgbClr val="2B6BC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581144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PostgreSQL — incidents, CAPA, audit trail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6592" y="5010912"/>
            <a:ext cx="3017520" cy="438912"/>
          </a:xfrm>
          <a:prstGeom prst="roundRect">
            <a:avLst/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5102352"/>
            <a:ext cx="10241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1">
                <a:solidFill>
                  <a:srgbClr val="199D92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5093208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Docker Compose → Azure Container Instances / 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36592" y="5522976"/>
            <a:ext cx="3017520" cy="438912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5614416"/>
            <a:ext cx="1024128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1">
                <a:solidFill>
                  <a:srgbClr val="2B6BC4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5605272"/>
            <a:ext cx="1645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780" b="0">
                <a:solidFill>
                  <a:srgbClr val="23303E"/>
                </a:solidFill>
                <a:latin typeface="Aptos"/>
              </a:defRPr>
            </a:pPr>
            <a:r>
              <a:t>Cloud option or fully local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3024" y="1371600"/>
            <a:ext cx="3419856" cy="4773168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1545336"/>
            <a:ext cx="283464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1300" b="1">
                <a:solidFill>
                  <a:srgbClr val="101F30"/>
                </a:solidFill>
                <a:latin typeface="Aptos"/>
              </a:defRPr>
            </a:pPr>
            <a:r>
              <a:t>5. Expected Outcomes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1920240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23376" y="1911096"/>
            <a:ext cx="2651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00" b="1">
                <a:solidFill>
                  <a:srgbClr val="101F30"/>
                </a:solidFill>
                <a:latin typeface="Aptos"/>
              </a:defRPr>
            </a:pPr>
            <a:r>
              <a:t>Faster incident triage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2121408"/>
            <a:ext cx="260604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0">
                <a:solidFill>
                  <a:srgbClr val="637181"/>
                </a:solidFill>
                <a:latin typeface="Aptos"/>
              </a:defRPr>
            </a:pPr>
            <a:r>
              <a:t>Less manual searching across codes and incident history.</a:t>
            </a:r>
          </a:p>
        </p:txBody>
      </p:sp>
      <p:sp>
        <p:nvSpPr>
          <p:cNvPr id="42" name="Oval 41"/>
          <p:cNvSpPr/>
          <p:nvPr/>
        </p:nvSpPr>
        <p:spPr>
          <a:xfrm>
            <a:off x="8412480" y="2523744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23376" y="2514600"/>
            <a:ext cx="2651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00" b="1">
                <a:solidFill>
                  <a:srgbClr val="101F30"/>
                </a:solidFill>
                <a:latin typeface="Aptos"/>
              </a:defRPr>
            </a:pPr>
            <a:r>
              <a:t>Evidence-aware decisions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3376" y="2724912"/>
            <a:ext cx="260604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0">
                <a:solidFill>
                  <a:srgbClr val="637181"/>
                </a:solidFill>
                <a:latin typeface="Aptos"/>
              </a:defRPr>
            </a:pPr>
            <a:r>
              <a:t>Consistent retrieval of standards, regulations and SOPs.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3127248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23376" y="3118104"/>
            <a:ext cx="2651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00" b="1">
                <a:solidFill>
                  <a:srgbClr val="101F30"/>
                </a:solidFill>
                <a:latin typeface="Aptos"/>
              </a:defRPr>
            </a:pPr>
            <a:r>
              <a:t>Structured root-cause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23376" y="3328416"/>
            <a:ext cx="260604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0">
                <a:solidFill>
                  <a:srgbClr val="637181"/>
                </a:solidFill>
                <a:latin typeface="Aptos"/>
              </a:defRPr>
            </a:pPr>
            <a:r>
              <a:t>Construction-specific FMEA / 5-Why reasoning.</a:t>
            </a:r>
          </a:p>
        </p:txBody>
      </p:sp>
      <p:sp>
        <p:nvSpPr>
          <p:cNvPr id="48" name="Oval 47"/>
          <p:cNvSpPr/>
          <p:nvPr/>
        </p:nvSpPr>
        <p:spPr>
          <a:xfrm>
            <a:off x="8412480" y="3730752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23376" y="3721608"/>
            <a:ext cx="2651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00" b="1">
                <a:solidFill>
                  <a:srgbClr val="101F30"/>
                </a:solidFill>
                <a:latin typeface="Aptos"/>
              </a:defRPr>
            </a:pPr>
            <a:r>
              <a:t>Actionable CAPA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23376" y="3931920"/>
            <a:ext cx="260604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0">
                <a:solidFill>
                  <a:srgbClr val="637181"/>
                </a:solidFill>
                <a:latin typeface="Aptos"/>
              </a:defRPr>
            </a:pPr>
            <a:r>
              <a:t>Clear action, ownership and due date for follow-up.</a:t>
            </a:r>
          </a:p>
        </p:txBody>
      </p:sp>
      <p:sp>
        <p:nvSpPr>
          <p:cNvPr id="51" name="Oval 50"/>
          <p:cNvSpPr/>
          <p:nvPr/>
        </p:nvSpPr>
        <p:spPr>
          <a:xfrm>
            <a:off x="8412480" y="4334256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23376" y="4325112"/>
            <a:ext cx="2651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00" b="1">
                <a:solidFill>
                  <a:srgbClr val="101F30"/>
                </a:solidFill>
                <a:latin typeface="Aptos"/>
              </a:defRPr>
            </a:pPr>
            <a:r>
              <a:t>Early escalation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23376" y="4535424"/>
            <a:ext cx="260604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0">
                <a:solidFill>
                  <a:srgbClr val="637181"/>
                </a:solidFill>
                <a:latin typeface="Aptos"/>
              </a:defRPr>
            </a:pPr>
            <a:r>
              <a:t>Critical or repeat violations surfaced quickly.</a:t>
            </a:r>
          </a:p>
        </p:txBody>
      </p:sp>
      <p:sp>
        <p:nvSpPr>
          <p:cNvPr id="54" name="Oval 53"/>
          <p:cNvSpPr/>
          <p:nvPr/>
        </p:nvSpPr>
        <p:spPr>
          <a:xfrm>
            <a:off x="8412480" y="4937760"/>
            <a:ext cx="219456" cy="219456"/>
          </a:xfrm>
          <a:prstGeom prst="ellipse">
            <a:avLst/>
          </a:prstGeom>
          <a:solidFill>
            <a:srgbClr val="319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23376" y="4928616"/>
            <a:ext cx="26517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900" b="1">
                <a:solidFill>
                  <a:srgbClr val="101F30"/>
                </a:solidFill>
                <a:latin typeface="Aptos"/>
              </a:defRPr>
            </a:pPr>
            <a:r>
              <a:t>Traceable audit trail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23376" y="5138928"/>
            <a:ext cx="260604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00" b="0">
                <a:solidFill>
                  <a:srgbClr val="637181"/>
                </a:solidFill>
                <a:latin typeface="Aptos"/>
              </a:defRPr>
            </a:pPr>
            <a:r>
              <a:t>Incident queue, agent reasoning trace and CAPA history.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6419088"/>
            <a:ext cx="11045952" cy="13716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defRPr sz="819" b="0">
                <a:solidFill>
                  <a:srgbClr val="637181"/>
                </a:solidFill>
                <a:latin typeface="Aptos"/>
              </a:defRPr>
            </a:pPr>
            <a:r>
              <a:t>S K Sricharan  •  VIT Chennai  •  T-Series ID: 9984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492240"/>
            <a:ext cx="5486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19" b="0">
                <a:solidFill>
                  <a:srgbClr val="637181"/>
                </a:solidFill>
                <a:latin typeface="Aptos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1032</Words>
  <Application>Microsoft Office PowerPoint</Application>
  <PresentationFormat>Widescreen</PresentationFormat>
  <Paragraphs>138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 Sense &amp; Site Guard AI — Zeroth Review</dc:title>
  <dc:subject/>
  <dc:creator>S K Sricharan</dc:creator>
  <cp:keywords/>
  <dc:description>generated using python-pptx</dc:description>
  <cp:lastModifiedBy>S.K Sricharan</cp:lastModifiedBy>
  <cp:revision>2</cp:revision>
  <dcterms:created xsi:type="dcterms:W3CDTF">2013-01-27T09:14:16Z</dcterms:created>
  <dcterms:modified xsi:type="dcterms:W3CDTF">2026-08-27T23:12:50Z</dcterms:modified>
  <cp:category/>
</cp:coreProperties>
</file>