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914400"/>
            <a:ext cx="566928" cy="566928"/>
          </a:xfrm>
          <a:prstGeom prst="ellipse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1554480"/>
            <a:ext cx="347472" cy="347472"/>
          </a:xfrm>
          <a:prstGeom prst="ellipse">
            <a:avLst/>
          </a:prstGeom>
          <a:solidFill>
            <a:srgbClr val="3FB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15400" y="2331720"/>
            <a:ext cx="420624" cy="420624"/>
          </a:xfrm>
          <a:prstGeom prst="ellipse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3246120"/>
            <a:ext cx="658368" cy="658368"/>
          </a:xfrm>
          <a:prstGeom prst="ellipse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4526280"/>
            <a:ext cx="310896" cy="310896"/>
          </a:xfrm>
          <a:prstGeom prst="ellipse">
            <a:avLst/>
          </a:prstGeom>
          <a:solidFill>
            <a:srgbClr val="3FB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21240" y="5349240"/>
            <a:ext cx="493776" cy="493776"/>
          </a:xfrm>
          <a:prstGeom prst="ellipse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509760" y="1197864"/>
            <a:ext cx="950976" cy="530352"/>
          </a:xfrm>
          <a:prstGeom prst="line">
            <a:avLst/>
          </a:prstGeom>
          <a:ln w="12700">
            <a:solidFill>
              <a:srgbClr val="466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98864" y="2542032"/>
            <a:ext cx="1755648" cy="1033272"/>
          </a:xfrm>
          <a:prstGeom prst="line">
            <a:avLst/>
          </a:prstGeom>
          <a:ln w="12700">
            <a:solidFill>
              <a:srgbClr val="466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98864" y="2542032"/>
            <a:ext cx="9144" cy="2139696"/>
          </a:xfrm>
          <a:prstGeom prst="line">
            <a:avLst/>
          </a:prstGeom>
          <a:ln w="12700">
            <a:solidFill>
              <a:srgbClr val="466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08008" y="4681728"/>
            <a:ext cx="960120" cy="914400"/>
          </a:xfrm>
          <a:prstGeom prst="line">
            <a:avLst/>
          </a:prstGeom>
          <a:ln w="12700">
            <a:solidFill>
              <a:srgbClr val="466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822960"/>
            <a:ext cx="786384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Project 1: Claim Sense: RAG-Based Insurance Claims Adjudication &amp; Policy Knowledge Assistant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240280"/>
            <a:ext cx="7223760" cy="41148"/>
          </a:xfrm>
          <a:prstGeom prst="rect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670048"/>
            <a:ext cx="7955279" cy="12070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Project 2: Site Guard AI — Multi-Agent Construction Safety &amp; Quality Incident Resolution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133087"/>
            <a:ext cx="7223760" cy="41148"/>
          </a:xfrm>
          <a:prstGeom prst="rect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010912"/>
            <a:ext cx="106984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Name: S K Sricharan - VIT Chennai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486400"/>
            <a:ext cx="106984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500" b="0">
                <a:solidFill>
                  <a:srgbClr val="C8D6E3"/>
                </a:solidFill>
                <a:latin typeface="Aptos"/>
              </a:defRPr>
            </a:pPr>
            <a:r>
              <a:t>T-Series ID: 9984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01752"/>
            <a:ext cx="20116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50" b="1">
                <a:solidFill>
                  <a:srgbClr val="2D69C3"/>
                </a:solidFill>
                <a:latin typeface="Aptos"/>
              </a:defRPr>
            </a:pPr>
            <a:r>
              <a:t>PROJECT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94360"/>
            <a:ext cx="1078992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400" b="1">
                <a:solidFill>
                  <a:srgbClr val="101F31"/>
                </a:solidFill>
                <a:latin typeface="Aptos"/>
              </a:defRPr>
            </a:pPr>
            <a:r>
              <a:t>Claim Sense — Problem Statement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61288"/>
            <a:ext cx="1051560" cy="32004"/>
          </a:xfrm>
          <a:prstGeom prst="rect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3767328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8580" cy="4553712"/>
          </a:xfrm>
          <a:prstGeom prst="rect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17904"/>
            <a:ext cx="3447288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220" b="1">
                <a:solidFill>
                  <a:srgbClr val="101F31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3246120" cy="2240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40" b="0">
                <a:solidFill>
                  <a:srgbClr val="232F3D"/>
                </a:solidFill>
                <a:latin typeface="Aptos"/>
              </a:defRPr>
            </a:pPr>
            <a:r>
              <a:t>Design and implement a RAG-based intelligent claims adjudication assistant that ingests a claim (structured claim data + free-text incident description), retrieves the relevant clauses from the customer's specific policy document and applicable regulatory guidelines, classifies fraud/anomaly risk using a trained ML model, and generates a structured, citation-backed recommendation: Approve, Investigate, or Deny — with the exact policy clause justifying the decision.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4617720"/>
            <a:ext cx="822960" cy="822960"/>
          </a:xfrm>
          <a:prstGeom prst="ellipse">
            <a:avLst/>
          </a:prstGeom>
          <a:solidFill>
            <a:srgbClr val="FFF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773168"/>
            <a:ext cx="8229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E8A536"/>
                </a:solidFill>
                <a:latin typeface="Aptos"/>
              </a:defRPr>
            </a:pPr>
            <a:r>
              <a:t>5–10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5477256"/>
            <a:ext cx="10972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60" b="0">
                <a:solidFill>
                  <a:srgbClr val="637182"/>
                </a:solidFill>
                <a:latin typeface="Aptos"/>
              </a:defRPr>
            </a:pPr>
            <a:r>
              <a:t>days manual turnaround</a:t>
            </a:r>
          </a:p>
        </p:txBody>
      </p:sp>
      <p:sp>
        <p:nvSpPr>
          <p:cNvPr id="14" name="Oval 13"/>
          <p:cNvSpPr/>
          <p:nvPr/>
        </p:nvSpPr>
        <p:spPr>
          <a:xfrm>
            <a:off x="1920240" y="4617720"/>
            <a:ext cx="822960" cy="822960"/>
          </a:xfrm>
          <a:prstGeom prst="ellipse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4773168"/>
            <a:ext cx="8229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C44C4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477256"/>
            <a:ext cx="10972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60" b="0">
                <a:solidFill>
                  <a:srgbClr val="637182"/>
                </a:solidFill>
                <a:latin typeface="Aptos"/>
              </a:defRPr>
            </a:pPr>
            <a:r>
              <a:t>risk levels</a:t>
            </a:r>
          </a:p>
        </p:txBody>
      </p:sp>
      <p:sp>
        <p:nvSpPr>
          <p:cNvPr id="17" name="Oval 16"/>
          <p:cNvSpPr/>
          <p:nvPr/>
        </p:nvSpPr>
        <p:spPr>
          <a:xfrm>
            <a:off x="3035808" y="4617720"/>
            <a:ext cx="822960" cy="822960"/>
          </a:xfrm>
          <a:prstGeom prst="ellipse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4773168"/>
            <a:ext cx="8229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2D69C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5477256"/>
            <a:ext cx="10972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60" b="0">
                <a:solidFill>
                  <a:srgbClr val="637182"/>
                </a:solidFill>
                <a:latin typeface="Aptos"/>
              </a:defRPr>
            </a:pPr>
            <a:r>
              <a:t>decision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417320"/>
            <a:ext cx="68580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400" b="1">
                <a:solidFill>
                  <a:srgbClr val="101F31"/>
                </a:solidFill>
                <a:latin typeface="Aptos"/>
              </a:defRPr>
            </a:pPr>
            <a:r>
              <a:t>Objectives — what the system must accomplish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0288" y="1810512"/>
            <a:ext cx="320040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6592" y="2020824"/>
            <a:ext cx="438912" cy="438912"/>
          </a:xfrm>
          <a:prstGeom prst="ellipse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2121408"/>
            <a:ext cx="43891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1" y="1929384"/>
            <a:ext cx="23317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01F31"/>
                </a:solidFill>
                <a:latin typeface="Aptos"/>
              </a:defRPr>
            </a:pPr>
            <a:r>
              <a:t>Synthetic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2194560"/>
            <a:ext cx="2304288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44" b="0">
                <a:solidFill>
                  <a:srgbClr val="637182"/>
                </a:solidFill>
                <a:latin typeface="Aptos"/>
              </a:defRPr>
            </a:pPr>
            <a:r>
              <a:t>Generate realistic policy documents, claims and claim-history data for safe development and testing.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810512"/>
            <a:ext cx="320040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93023" y="2020824"/>
            <a:ext cx="438912" cy="438912"/>
          </a:xfrm>
          <a:prstGeom prst="ellipse">
            <a:avLst/>
          </a:prstGeom>
          <a:solidFill>
            <a:srgbClr val="3FB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3" y="2121408"/>
            <a:ext cx="43891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3" y="1929384"/>
            <a:ext cx="23317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01F31"/>
                </a:solidFill>
                <a:latin typeface="Aptos"/>
              </a:defRPr>
            </a:pPr>
            <a:r>
              <a:t>RAG knowledge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41663" y="2194560"/>
            <a:ext cx="2304288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44" b="0">
                <a:solidFill>
                  <a:srgbClr val="637182"/>
                </a:solidFill>
                <a:latin typeface="Aptos"/>
              </a:defRPr>
            </a:pPr>
            <a:r>
              <a:t>Index policy wordings, riders, exclusion clauses and regulatory circulars for grounded retrieval.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90288" y="2999232"/>
            <a:ext cx="320040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36592" y="3209544"/>
            <a:ext cx="438912" cy="438912"/>
          </a:xfrm>
          <a:prstGeom prst="ellipse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3310128"/>
            <a:ext cx="43891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5231" y="3118104"/>
            <a:ext cx="23317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01F31"/>
                </a:solidFill>
                <a:latin typeface="Aptos"/>
              </a:defRPr>
            </a:pPr>
            <a:r>
              <a:t>Fraud / anomaly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5231" y="3383280"/>
            <a:ext cx="2304288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44" b="0">
                <a:solidFill>
                  <a:srgbClr val="637182"/>
                </a:solidFill>
                <a:latin typeface="Aptos"/>
              </a:defRPr>
            </a:pPr>
            <a:r>
              <a:t>Use structured claim features to classify Low, Medium or High risk.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2999232"/>
            <a:ext cx="320040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93023" y="3209544"/>
            <a:ext cx="438912" cy="438912"/>
          </a:xfrm>
          <a:prstGeom prst="ellipse">
            <a:avLst/>
          </a:prstGeom>
          <a:solidFill>
            <a:srgbClr val="3FB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3" y="3310128"/>
            <a:ext cx="43891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1663" y="3118104"/>
            <a:ext cx="23317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01F31"/>
                </a:solidFill>
                <a:latin typeface="Aptos"/>
              </a:defRPr>
            </a:pPr>
            <a:r>
              <a:t>Exact evidence retrieval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3" y="3383280"/>
            <a:ext cx="2304288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44" b="0">
                <a:solidFill>
                  <a:srgbClr val="637182"/>
                </a:solidFill>
                <a:latin typeface="Aptos"/>
              </a:defRPr>
            </a:pPr>
            <a:r>
              <a:t>Retrieve and cite the clause(s) directly relevant to the incoming claim.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90288" y="4187952"/>
            <a:ext cx="320040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36592" y="4398264"/>
            <a:ext cx="438912" cy="438912"/>
          </a:xfrm>
          <a:prstGeom prst="ellipse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36592" y="4498848"/>
            <a:ext cx="43891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85231" y="4306824"/>
            <a:ext cx="23317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01F31"/>
                </a:solidFill>
                <a:latin typeface="Aptos"/>
              </a:defRPr>
            </a:pPr>
            <a:r>
              <a:t>Explainable adjudication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5231" y="4572000"/>
            <a:ext cx="2304288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44" b="0">
                <a:solidFill>
                  <a:srgbClr val="637182"/>
                </a:solidFill>
                <a:latin typeface="Aptos"/>
              </a:defRPr>
            </a:pPr>
            <a:r>
              <a:t>Generate reasoning plus Approve / Flag for Investigation / Deny recommendation.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19" y="4187952"/>
            <a:ext cx="320040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93023" y="4398264"/>
            <a:ext cx="438912" cy="438912"/>
          </a:xfrm>
          <a:prstGeom prst="ellipse">
            <a:avLst/>
          </a:prstGeom>
          <a:solidFill>
            <a:srgbClr val="3FB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3023" y="4498848"/>
            <a:ext cx="43891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3" y="4306824"/>
            <a:ext cx="23317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01F31"/>
                </a:solidFill>
                <a:latin typeface="Aptos"/>
              </a:defRPr>
            </a:pPr>
            <a:r>
              <a:t>Operational workflow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41663" y="4572000"/>
            <a:ext cx="2304288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44" b="0">
                <a:solidFill>
                  <a:srgbClr val="637182"/>
                </a:solidFill>
                <a:latin typeface="Aptos"/>
              </a:defRPr>
            </a:pPr>
            <a:r>
              <a:t>Provide an adjuster dashboard and support scalable Azure deployment with MLOps / CI-CD.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90288" y="5559552"/>
            <a:ext cx="64922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50" b="1">
                <a:solidFill>
                  <a:srgbClr val="101F31"/>
                </a:solidFill>
                <a:latin typeface="Aptos"/>
              </a:defRPr>
            </a:pPr>
            <a:r>
              <a:t>Core intelligence flow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90288" y="5833872"/>
            <a:ext cx="1481328" cy="438912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26864" y="5907024"/>
            <a:ext cx="140817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800" b="1">
                <a:solidFill>
                  <a:srgbClr val="101F31"/>
                </a:solidFill>
                <a:latin typeface="Aptos"/>
              </a:defRPr>
            </a:pPr>
            <a:r>
              <a:t>Claim Input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26864" y="6071616"/>
            <a:ext cx="1408176" cy="1097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650" b="0">
                <a:solidFill>
                  <a:srgbClr val="637182"/>
                </a:solidFill>
                <a:latin typeface="Aptos"/>
              </a:defRPr>
            </a:pPr>
            <a:r>
              <a:t>structured + incident text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9903" y="5952744"/>
            <a:ext cx="146304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2D69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36207" y="5833872"/>
            <a:ext cx="1481328" cy="438912"/>
          </a:xfrm>
          <a:prstGeom prst="roundRect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3" y="5907024"/>
            <a:ext cx="140817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800" b="1">
                <a:solidFill>
                  <a:srgbClr val="101F31"/>
                </a:solidFill>
                <a:latin typeface="Aptos"/>
              </a:defRPr>
            </a:pPr>
            <a:r>
              <a:t>ML Risk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2783" y="6071616"/>
            <a:ext cx="1408176" cy="1097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650" b="0">
                <a:solidFill>
                  <a:srgbClr val="637182"/>
                </a:solidFill>
                <a:latin typeface="Aptos"/>
              </a:defRPr>
            </a:pPr>
            <a:r>
              <a:t>Low / Medium / High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35823" y="5952744"/>
            <a:ext cx="146304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2D69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82127" y="5833872"/>
            <a:ext cx="1481328" cy="438912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18703" y="5907024"/>
            <a:ext cx="140817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800" b="1">
                <a:solidFill>
                  <a:srgbClr val="101F31"/>
                </a:solidFill>
                <a:latin typeface="Aptos"/>
              </a:defRPr>
            </a:pPr>
            <a:r>
              <a:t>RAG Evidence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18703" y="6071616"/>
            <a:ext cx="1408176" cy="1097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650" b="0">
                <a:solidFill>
                  <a:srgbClr val="637182"/>
                </a:solidFill>
                <a:latin typeface="Aptos"/>
              </a:defRPr>
            </a:pPr>
            <a:r>
              <a:t>policy + regulations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81744" y="5952744"/>
            <a:ext cx="146304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2D69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28048" y="5833872"/>
            <a:ext cx="1481328" cy="438912"/>
          </a:xfrm>
          <a:prstGeom prst="roundRect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64624" y="5907024"/>
            <a:ext cx="140817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800" b="1">
                <a:solidFill>
                  <a:srgbClr val="101F31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64624" y="6071616"/>
            <a:ext cx="1408176" cy="1097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650" b="0">
                <a:solidFill>
                  <a:srgbClr val="637182"/>
                </a:solidFill>
                <a:latin typeface="Aptos"/>
              </a:defRPr>
            </a:pPr>
            <a:r>
              <a:t>Approve / Investigate / Deny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6419088"/>
            <a:ext cx="11064240" cy="10972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6" y="6492240"/>
            <a:ext cx="548640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19" b="0">
                <a:solidFill>
                  <a:srgbClr val="637182"/>
                </a:solidFill>
                <a:latin typeface="Aptos"/>
              </a:defRPr>
            </a:pPr>
            <a:r>
              <a:t>S K Sricharan  •  VIT Chennai  •  T-Series ID: 9984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45952" y="6492240"/>
            <a:ext cx="5029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19" b="0">
                <a:solidFill>
                  <a:srgbClr val="637182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70" name="Rounded Rectangle 69">
            <a:hlinkClick action="ppaction://hlinksldjump" r:id="rId2"/>
          </p:cNvPr>
          <p:cNvSpPr/>
          <p:nvPr/>
        </p:nvSpPr>
        <p:spPr>
          <a:xfrm>
            <a:off x="10195560" y="310896"/>
            <a:ext cx="694944" cy="292608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95560" y="384048"/>
            <a:ext cx="694944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00" b="1">
                <a:solidFill>
                  <a:srgbClr val="2D69C3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72" name="Rounded Rectangle 71">
            <a:hlinkClick action="ppaction://hlinksldjump" r:id="rId3"/>
          </p:cNvPr>
          <p:cNvSpPr/>
          <p:nvPr/>
        </p:nvSpPr>
        <p:spPr>
          <a:xfrm>
            <a:off x="11301984" y="310896"/>
            <a:ext cx="32004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301984" y="365760"/>
            <a:ext cx="32004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637182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01752"/>
            <a:ext cx="20116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50" b="1">
                <a:solidFill>
                  <a:srgbClr val="2D69C3"/>
                </a:solidFill>
                <a:latin typeface="Aptos"/>
              </a:defRPr>
            </a:pPr>
            <a:r>
              <a:t>PROJECT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94360"/>
            <a:ext cx="1078992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400" b="1">
                <a:solidFill>
                  <a:srgbClr val="101F31"/>
                </a:solidFill>
                <a:latin typeface="Aptos"/>
              </a:defRPr>
            </a:pPr>
            <a:r>
              <a:t>Dataset, Technical Stack &amp; Expected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61288"/>
            <a:ext cx="1051560" cy="32004"/>
          </a:xfrm>
          <a:prstGeom prst="rect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38404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8580" cy="4754880"/>
          </a:xfrm>
          <a:prstGeom prst="rect">
            <a:avLst/>
          </a:prstGeom>
          <a:solidFill>
            <a:srgbClr val="2D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17904"/>
            <a:ext cx="35204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220" b="1">
                <a:solidFill>
                  <a:srgbClr val="101F31"/>
                </a:solidFill>
                <a:latin typeface="Aptos"/>
              </a:defRPr>
            </a:pPr>
            <a:r>
              <a:t>Dataset — Generation &amp;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3291840" cy="1965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232F3D"/>
                </a:solidFill>
                <a:latin typeface="Aptos"/>
              </a:defRPr>
            </a:pPr>
            <a:r>
              <a:t>• Synthetic policy documents and riders with coverage, limits and exclusions.</a:t>
            </a:r>
          </a:p>
          <a:p>
            <a:pPr>
              <a:spcAft>
                <a:spcPts val="400"/>
              </a:spcAft>
              <a:defRPr sz="940">
                <a:solidFill>
                  <a:srgbClr val="232F3D"/>
                </a:solidFill>
                <a:latin typeface="Aptos"/>
              </a:defRPr>
            </a:pPr>
            <a:r>
              <a:t>• Structured claims plus free-text incident narratives.</a:t>
            </a:r>
          </a:p>
          <a:p>
            <a:pPr>
              <a:spcAft>
                <a:spcPts val="400"/>
              </a:spcAft>
              <a:defRPr sz="940">
                <a:solidFill>
                  <a:srgbClr val="232F3D"/>
                </a:solidFill>
                <a:latin typeface="Aptos"/>
              </a:defRPr>
            </a:pPr>
            <a:r>
              <a:t>• Claim-history / adjudication records and claimant-history flags.</a:t>
            </a:r>
          </a:p>
          <a:p>
            <a:pPr>
              <a:spcAft>
                <a:spcPts val="400"/>
              </a:spcAft>
              <a:defRPr sz="940">
                <a:solidFill>
                  <a:srgbClr val="232F3D"/>
                </a:solidFill>
                <a:latin typeface="Aptos"/>
              </a:defRPr>
            </a:pPr>
            <a:r>
              <a:t>• Exclusion-clause libraries, IRDAI / regulatory circulars and investigation SOPs.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05072"/>
            <a:ext cx="324612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19" b="1">
                <a:solidFill>
                  <a:srgbClr val="2D69C3"/>
                </a:solidFill>
                <a:latin typeface="Aptos"/>
              </a:defRPr>
            </a:pPr>
            <a:r>
              <a:t>How it is generated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32461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00" b="0">
                <a:solidFill>
                  <a:srgbClr val="637182"/>
                </a:solidFill>
                <a:latin typeface="Aptos"/>
              </a:defRPr>
            </a:pPr>
            <a:r>
              <a:t>Use Python-based templates and controlled synthetic generation to create realistic policy, claim and historical patterns. Public / regulatory documents can enrich the knowledge corpus.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324612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19" b="1">
                <a:solidFill>
                  <a:srgbClr val="2D69C3"/>
                </a:solidFill>
                <a:latin typeface="Aptos"/>
              </a:defRPr>
            </a:pPr>
            <a:r>
              <a:t>Relevance to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67528"/>
            <a:ext cx="324612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90" b="0">
                <a:solidFill>
                  <a:srgbClr val="637182"/>
                </a:solidFill>
                <a:latin typeface="Aptos"/>
              </a:defRPr>
            </a:pPr>
            <a:r>
              <a:t>The dataset directly supports RAG retrieval, ML risk classification, clause citation, recommendation quality and dashboard evaluation without exposing real customer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0288" y="1389888"/>
            <a:ext cx="3493008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0288" y="1389888"/>
            <a:ext cx="68580" cy="4754880"/>
          </a:xfrm>
          <a:prstGeom prst="rect">
            <a:avLst/>
          </a:prstGeom>
          <a:solidFill>
            <a:srgbClr val="3FB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1517904"/>
            <a:ext cx="3172968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220" b="1">
                <a:solidFill>
                  <a:srgbClr val="101F31"/>
                </a:solidFill>
                <a:latin typeface="Aptos"/>
              </a:defRPr>
            </a:pPr>
            <a:r>
              <a:t>Technical Stack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9744" y="1847088"/>
            <a:ext cx="3017520" cy="338328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1911095"/>
            <a:ext cx="102412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70" b="1">
                <a:solidFill>
                  <a:srgbClr val="2D69C3"/>
                </a:solidFill>
                <a:latin typeface="Aptos"/>
              </a:defRPr>
            </a:pPr>
            <a:r>
              <a:t>Programming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911095"/>
            <a:ext cx="1682496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45" b="0">
                <a:solidFill>
                  <a:srgbClr val="232F3D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9744" y="2231136"/>
            <a:ext cx="3017520" cy="338328"/>
          </a:xfrm>
          <a:prstGeom prst="roundRect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2" y="2295144"/>
            <a:ext cx="102412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70" b="1">
                <a:solidFill>
                  <a:srgbClr val="149991"/>
                </a:solidFill>
                <a:latin typeface="Aptos"/>
              </a:defRPr>
            </a:pPr>
            <a:r>
              <a:t>RAG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295144"/>
            <a:ext cx="1682496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45" b="0">
                <a:solidFill>
                  <a:srgbClr val="232F3D"/>
                </a:solidFill>
                <a:latin typeface="Aptos"/>
              </a:defRPr>
            </a:pPr>
            <a:r>
              <a:t>LangChain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9744" y="2615184"/>
            <a:ext cx="3017520" cy="338328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9472" y="2679191"/>
            <a:ext cx="102412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70" b="1">
                <a:solidFill>
                  <a:srgbClr val="2D69C3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679191"/>
            <a:ext cx="1682496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45" b="0">
                <a:solidFill>
                  <a:srgbClr val="232F3D"/>
                </a:solidFill>
                <a:latin typeface="Aptos"/>
              </a:defRPr>
            </a:pPr>
            <a:r>
              <a:t>Sentence Transformers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9744" y="2999232"/>
            <a:ext cx="3017520" cy="338328"/>
          </a:xfrm>
          <a:prstGeom prst="roundRect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3063239"/>
            <a:ext cx="102412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70" b="1">
                <a:solidFill>
                  <a:srgbClr val="149991"/>
                </a:solidFill>
                <a:latin typeface="Aptos"/>
              </a:defRPr>
            </a:pPr>
            <a:r>
              <a:t>Vector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063239"/>
            <a:ext cx="1682496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45" b="0">
                <a:solidFill>
                  <a:srgbClr val="232F3D"/>
                </a:solidFill>
                <a:latin typeface="Aptos"/>
              </a:defRPr>
            </a:pPr>
            <a:r>
              <a:t>FAISS / ChromaDB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9744" y="3383279"/>
            <a:ext cx="3017520" cy="338328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3447287"/>
            <a:ext cx="102412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70" b="1">
                <a:solidFill>
                  <a:srgbClr val="2D69C3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447287"/>
            <a:ext cx="1682496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45" b="0">
                <a:solidFill>
                  <a:srgbClr val="232F3D"/>
                </a:solidFill>
                <a:latin typeface="Aptos"/>
              </a:defRPr>
            </a:pPr>
            <a:r>
              <a:t>Azure OpenAI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9744" y="3767328"/>
            <a:ext cx="3017520" cy="338328"/>
          </a:xfrm>
          <a:prstGeom prst="roundRect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9472" y="3831336"/>
            <a:ext cx="102412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70" b="1">
                <a:solidFill>
                  <a:srgbClr val="149991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831336"/>
            <a:ext cx="1682496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45" b="0">
                <a:solidFill>
                  <a:srgbClr val="232F3D"/>
                </a:solidFill>
                <a:latin typeface="Aptos"/>
              </a:defRPr>
            </a:pPr>
            <a:r>
              <a:t>Scikit-learn, XGBoost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9744" y="4151376"/>
            <a:ext cx="3017520" cy="338328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9472" y="4215384"/>
            <a:ext cx="102412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70" b="1">
                <a:solidFill>
                  <a:srgbClr val="2D69C3"/>
                </a:solidFill>
                <a:latin typeface="Aptos"/>
              </a:defRPr>
            </a:pPr>
            <a:r>
              <a:t>Experiment 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215384"/>
            <a:ext cx="1682496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45" b="0">
                <a:solidFill>
                  <a:srgbClr val="232F3D"/>
                </a:solidFill>
                <a:latin typeface="Aptos"/>
              </a:defRPr>
            </a:pPr>
            <a:r>
              <a:t>MLflow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9744" y="4535424"/>
            <a:ext cx="3017520" cy="338328"/>
          </a:xfrm>
          <a:prstGeom prst="roundRect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19472" y="4599432"/>
            <a:ext cx="102412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70" b="1">
                <a:solidFill>
                  <a:srgbClr val="149991"/>
                </a:solidFill>
                <a:latin typeface="Aptos"/>
              </a:defRPr>
            </a:pPr>
            <a:r>
              <a:t>Data processing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4599432"/>
            <a:ext cx="1682496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45" b="0">
                <a:solidFill>
                  <a:srgbClr val="232F3D"/>
                </a:solidFill>
                <a:latin typeface="Aptos"/>
              </a:defRPr>
            </a:pPr>
            <a:r>
              <a:t>Pandas, NumPy, Apache Spark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9744" y="4919472"/>
            <a:ext cx="3017520" cy="338328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19472" y="4983480"/>
            <a:ext cx="102412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70" b="1">
                <a:solidFill>
                  <a:srgbClr val="2D69C3"/>
                </a:solidFill>
                <a:latin typeface="Aptos"/>
              </a:defRPr>
            </a:pPr>
            <a:r>
              <a:t>Backend / 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4983480"/>
            <a:ext cx="1682496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45" b="0">
                <a:solidFill>
                  <a:srgbClr val="232F3D"/>
                </a:solidFill>
                <a:latin typeface="Aptos"/>
              </a:defRPr>
            </a:pPr>
            <a:r>
              <a:t>FastAPI + Streamlit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9744" y="5303520"/>
            <a:ext cx="3017520" cy="338328"/>
          </a:xfrm>
          <a:prstGeom prst="roundRect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5367528"/>
            <a:ext cx="102412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70" b="1">
                <a:solidFill>
                  <a:srgbClr val="149991"/>
                </a:solidFill>
                <a:latin typeface="Aptos"/>
              </a:defRPr>
            </a:pPr>
            <a:r>
              <a:t>Data / 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5367528"/>
            <a:ext cx="1682496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45" b="0">
                <a:solidFill>
                  <a:srgbClr val="232F3D"/>
                </a:solidFill>
                <a:latin typeface="Aptos"/>
              </a:defRPr>
            </a:pPr>
            <a:r>
              <a:t>PostgreSQL / Azure SQL • Docker → ACR → AKS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09744" y="5687568"/>
            <a:ext cx="3017520" cy="338328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19472" y="5751576"/>
            <a:ext cx="102412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70" b="1">
                <a:solidFill>
                  <a:srgbClr val="2D69C3"/>
                </a:solidFill>
                <a:latin typeface="Aptos"/>
              </a:defRPr>
            </a:pPr>
            <a:r>
              <a:t>Monitoring / 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751576"/>
            <a:ext cx="1682496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45" b="0">
                <a:solidFill>
                  <a:srgbClr val="232F3D"/>
                </a:solidFill>
                <a:latin typeface="Aptos"/>
              </a:defRPr>
            </a:pPr>
            <a:r>
              <a:t>Azure Monitor • Azure Blob Storage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47888" y="1389888"/>
            <a:ext cx="336499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47888" y="1389888"/>
            <a:ext cx="68580" cy="4754880"/>
          </a:xfrm>
          <a:prstGeom prst="rect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0767" y="1517904"/>
            <a:ext cx="304495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220" b="1">
                <a:solidFill>
                  <a:srgbClr val="101F31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54" name="Oval 53"/>
          <p:cNvSpPr/>
          <p:nvPr/>
        </p:nvSpPr>
        <p:spPr>
          <a:xfrm>
            <a:off x="8485632" y="1883664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23960" y="1847088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40" b="1">
                <a:solidFill>
                  <a:srgbClr val="101F31"/>
                </a:solidFill>
                <a:latin typeface="Aptos"/>
              </a:defRPr>
            </a:pPr>
            <a:r>
              <a:t>Faster triage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3960" y="2048256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5" b="0">
                <a:solidFill>
                  <a:srgbClr val="637182"/>
                </a:solidFill>
                <a:latin typeface="Aptos"/>
              </a:defRPr>
            </a:pPr>
            <a:r>
              <a:t>Reduce manual document cross-referencing and improve turnaround.</a:t>
            </a:r>
          </a:p>
        </p:txBody>
      </p:sp>
      <p:sp>
        <p:nvSpPr>
          <p:cNvPr id="57" name="Oval 56"/>
          <p:cNvSpPr/>
          <p:nvPr/>
        </p:nvSpPr>
        <p:spPr>
          <a:xfrm>
            <a:off x="8485632" y="2514600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23960" y="2478024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40" b="1">
                <a:solidFill>
                  <a:srgbClr val="101F31"/>
                </a:solidFill>
                <a:latin typeface="Aptos"/>
              </a:defRPr>
            </a:pPr>
            <a:r>
              <a:t>Consistent decisions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3960" y="2679192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5" b="0">
                <a:solidFill>
                  <a:srgbClr val="637182"/>
                </a:solidFill>
                <a:latin typeface="Aptos"/>
              </a:defRPr>
            </a:pPr>
            <a:r>
              <a:t>Ground recommendations in the same policy and regulatory evidence.</a:t>
            </a:r>
          </a:p>
        </p:txBody>
      </p:sp>
      <p:sp>
        <p:nvSpPr>
          <p:cNvPr id="60" name="Oval 59"/>
          <p:cNvSpPr/>
          <p:nvPr/>
        </p:nvSpPr>
        <p:spPr>
          <a:xfrm>
            <a:off x="8485632" y="3145536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23960" y="3108960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40" b="1">
                <a:solidFill>
                  <a:srgbClr val="101F31"/>
                </a:solidFill>
                <a:latin typeface="Aptos"/>
              </a:defRPr>
            </a:pPr>
            <a:r>
              <a:t>Risk visibility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3310128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5" b="0">
                <a:solidFill>
                  <a:srgbClr val="637182"/>
                </a:solidFill>
                <a:latin typeface="Aptos"/>
              </a:defRPr>
            </a:pPr>
            <a:r>
              <a:t>Surface Low / Medium / High fraud or anomaly risk.</a:t>
            </a:r>
          </a:p>
        </p:txBody>
      </p:sp>
      <p:sp>
        <p:nvSpPr>
          <p:cNvPr id="63" name="Oval 62"/>
          <p:cNvSpPr/>
          <p:nvPr/>
        </p:nvSpPr>
        <p:spPr>
          <a:xfrm>
            <a:off x="8485632" y="3776472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23960" y="3739896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40" b="1">
                <a:solidFill>
                  <a:srgbClr val="101F31"/>
                </a:solidFill>
                <a:latin typeface="Aptos"/>
              </a:defRPr>
            </a:pPr>
            <a:r>
              <a:t>Clause-backed output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23960" y="3941063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5" b="0">
                <a:solidFill>
                  <a:srgbClr val="637182"/>
                </a:solidFill>
                <a:latin typeface="Aptos"/>
              </a:defRPr>
            </a:pPr>
            <a:r>
              <a:t>Show the exact policy clause supporting the recommendation.</a:t>
            </a:r>
          </a:p>
        </p:txBody>
      </p:sp>
      <p:sp>
        <p:nvSpPr>
          <p:cNvPr id="66" name="Oval 65"/>
          <p:cNvSpPr/>
          <p:nvPr/>
        </p:nvSpPr>
        <p:spPr>
          <a:xfrm>
            <a:off x="8485632" y="4407407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23960" y="4370831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40" b="1">
                <a:solidFill>
                  <a:srgbClr val="101F31"/>
                </a:solidFill>
                <a:latin typeface="Aptos"/>
              </a:defRPr>
            </a:pPr>
            <a:r>
              <a:t>Human-in-the-loop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23960" y="4571999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5" b="0">
                <a:solidFill>
                  <a:srgbClr val="637182"/>
                </a:solidFill>
                <a:latin typeface="Aptos"/>
              </a:defRPr>
            </a:pPr>
            <a:r>
              <a:t>Adjuster reviews and finalizes the decision through the dashboard.</a:t>
            </a:r>
          </a:p>
        </p:txBody>
      </p:sp>
      <p:sp>
        <p:nvSpPr>
          <p:cNvPr id="69" name="Oval 68"/>
          <p:cNvSpPr/>
          <p:nvPr/>
        </p:nvSpPr>
        <p:spPr>
          <a:xfrm>
            <a:off x="8485632" y="5038343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23960" y="5001767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40" b="1">
                <a:solidFill>
                  <a:srgbClr val="101F31"/>
                </a:solidFill>
                <a:latin typeface="Aptos"/>
              </a:defRPr>
            </a:pPr>
            <a:r>
              <a:t>Production readiness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23960" y="5202935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5" b="0">
                <a:solidFill>
                  <a:srgbClr val="637182"/>
                </a:solidFill>
                <a:latin typeface="Aptos"/>
              </a:defRPr>
            </a:pPr>
            <a:r>
              <a:t>Reproducible, monitored Azure deployment with MLOps / CI-CD.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6419088"/>
            <a:ext cx="11064240" cy="10972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5216" y="6492240"/>
            <a:ext cx="548640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19" b="0">
                <a:solidFill>
                  <a:srgbClr val="637182"/>
                </a:solidFill>
                <a:latin typeface="Aptos"/>
              </a:defRPr>
            </a:pPr>
            <a:r>
              <a:t>S K Sricharan  •  VIT Chennai  •  T-Series ID: 9984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45952" y="6492240"/>
            <a:ext cx="5029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19" b="0">
                <a:solidFill>
                  <a:srgbClr val="637182"/>
                </a:solidFill>
                <a:latin typeface="Aptos"/>
              </a:defRPr>
            </a:pPr>
            <a:r>
              <a:t>3/5</a:t>
            </a:r>
          </a:p>
        </p:txBody>
      </p:sp>
      <p:sp>
        <p:nvSpPr>
          <p:cNvPr id="75" name="Rounded Rectangle 74">
            <a:hlinkClick action="ppaction://hlinksldjump" r:id="rId2"/>
          </p:cNvPr>
          <p:cNvSpPr/>
          <p:nvPr/>
        </p:nvSpPr>
        <p:spPr>
          <a:xfrm>
            <a:off x="10195560" y="310896"/>
            <a:ext cx="694944" cy="292608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95560" y="384048"/>
            <a:ext cx="694944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00" b="1">
                <a:solidFill>
                  <a:srgbClr val="2D69C3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77" name="Rounded Rectangle 76">
            <a:hlinkClick action="ppaction://hlinksldjump" r:id="rId3"/>
          </p:cNvPr>
          <p:cNvSpPr/>
          <p:nvPr/>
        </p:nvSpPr>
        <p:spPr>
          <a:xfrm>
            <a:off x="10936224" y="310896"/>
            <a:ext cx="32004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936224" y="365760"/>
            <a:ext cx="32004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637182"/>
                </a:solidFill>
                <a:latin typeface="Aptos"/>
              </a:defRPr>
            </a:pPr>
            <a:r>
              <a:t>‹</a:t>
            </a:r>
          </a:p>
        </p:txBody>
      </p:sp>
      <p:sp>
        <p:nvSpPr>
          <p:cNvPr id="79" name="Rounded Rectangle 78">
            <a:hlinkClick action="ppaction://hlinksldjump" r:id="rId4"/>
          </p:cNvPr>
          <p:cNvSpPr/>
          <p:nvPr/>
        </p:nvSpPr>
        <p:spPr>
          <a:xfrm>
            <a:off x="11301984" y="310896"/>
            <a:ext cx="32004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301984" y="365760"/>
            <a:ext cx="32004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637182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01752"/>
            <a:ext cx="20116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50" b="1">
                <a:solidFill>
                  <a:srgbClr val="149991"/>
                </a:solidFill>
                <a:latin typeface="Aptos"/>
              </a:defRPr>
            </a:pPr>
            <a:r>
              <a:t>PROJECT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94360"/>
            <a:ext cx="1078992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400" b="1">
                <a:solidFill>
                  <a:srgbClr val="101F31"/>
                </a:solidFill>
                <a:latin typeface="Aptos"/>
              </a:defRPr>
            </a:pPr>
            <a:r>
              <a:t>Site Guard AI — Problem Statement &amp; Multi-Agent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61288"/>
            <a:ext cx="1051560" cy="32004"/>
          </a:xfrm>
          <a:prstGeom prst="rect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3675887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8580" cy="4754880"/>
          </a:xfrm>
          <a:prstGeom prst="rect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17904"/>
            <a:ext cx="3355847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220" b="1">
                <a:solidFill>
                  <a:srgbClr val="101F31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3182112" cy="1920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50" b="0">
                <a:solidFill>
                  <a:srgbClr val="232F3D"/>
                </a:solidFill>
                <a:latin typeface="Aptos"/>
              </a:defRPr>
            </a:pPr>
            <a:r>
              <a:t>Large EPC construction sites generate thousands of safety observations, near-miss reports, quality non-conformance reports (NCRs), and daily progress reports (DPRs) across multiple contractors. Site engineers currently cross-reference IS codes, OSHA/BOCW safety norms, and past incident logs manually — this takes hours per incident and root causes are inconsistently tracked, leading to repeat safety violations and project delays.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68496"/>
            <a:ext cx="31546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19" b="1">
                <a:solidFill>
                  <a:srgbClr val="149991"/>
                </a:solidFill>
                <a:latin typeface="Aptos"/>
              </a:defRPr>
            </a:pPr>
            <a:r>
              <a:t>Why this project is distinct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61104"/>
            <a:ext cx="315468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00" b="0">
                <a:solidFill>
                  <a:srgbClr val="637182"/>
                </a:solidFill>
                <a:latin typeface="Aptos"/>
              </a:defRPr>
            </a:pPr>
            <a:r>
              <a:t>It focuses on physical-site safety and quality incident triage for Construction / EPC / Infrastructure — not SOC alerts, real-estate diligence or IT-operations 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321808"/>
            <a:ext cx="8686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1499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605272"/>
            <a:ext cx="10515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10" b="0">
                <a:solidFill>
                  <a:srgbClr val="637182"/>
                </a:solidFill>
                <a:latin typeface="Aptos"/>
              </a:defRPr>
            </a:pPr>
            <a:r>
              <a:t>specialized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5321808"/>
            <a:ext cx="8686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E8A536"/>
                </a:solidFill>
                <a:latin typeface="Aptos"/>
              </a:defRPr>
            </a:pPr>
            <a:r>
              <a:t>5K–15K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5605272"/>
            <a:ext cx="10515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10" b="0">
                <a:solidFill>
                  <a:srgbClr val="637182"/>
                </a:solidFill>
                <a:latin typeface="Aptos"/>
              </a:defRPr>
            </a:pPr>
            <a:r>
              <a:t>synthetic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5321808"/>
            <a:ext cx="8686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3FB9D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5605272"/>
            <a:ext cx="10515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10" b="0">
                <a:solidFill>
                  <a:srgbClr val="637182"/>
                </a:solidFill>
                <a:latin typeface="Aptos"/>
              </a:defRPr>
            </a:pPr>
            <a:r>
              <a:t>physical-site 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1417320"/>
            <a:ext cx="68580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400" b="1">
                <a:solidFill>
                  <a:srgbClr val="101F31"/>
                </a:solidFill>
                <a:latin typeface="Aptos"/>
              </a:defRPr>
            </a:pPr>
            <a:r>
              <a:t>Objectives implemented through a 5-agent LangGraph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17136" y="1828800"/>
            <a:ext cx="6784848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81728" y="1956816"/>
            <a:ext cx="384048" cy="384048"/>
          </a:xfrm>
          <a:prstGeom prst="ellipse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2057400"/>
            <a:ext cx="384048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1938528"/>
            <a:ext cx="16002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01F31"/>
                </a:solidFill>
                <a:latin typeface="Aptos"/>
              </a:defRPr>
            </a:pPr>
            <a:r>
              <a:t>Intake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1929384"/>
            <a:ext cx="40690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90" b="0">
                <a:solidFill>
                  <a:srgbClr val="637182"/>
                </a:solidFill>
                <a:latin typeface="Aptos"/>
              </a:defRPr>
            </a:pPr>
            <a:r>
              <a:t>Structures free-text reports into site, contractor, severity and trade fields.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73752" y="2450592"/>
            <a:ext cx="0" cy="146304"/>
          </a:xfrm>
          <a:prstGeom prst="line">
            <a:avLst/>
          </a:prstGeom>
          <a:ln w="12700">
            <a:solidFill>
              <a:srgbClr val="14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17136" y="2624328"/>
            <a:ext cx="6784848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81728" y="2752344"/>
            <a:ext cx="384048" cy="384048"/>
          </a:xfrm>
          <a:prstGeom prst="ellipse">
            <a:avLst/>
          </a:prstGeom>
          <a:solidFill>
            <a:srgbClr val="3FB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2852928"/>
            <a:ext cx="384048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2734056"/>
            <a:ext cx="16002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01F31"/>
                </a:solidFill>
                <a:latin typeface="Aptos"/>
              </a:defRPr>
            </a:pPr>
            <a:r>
              <a:t>Retrieval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2724912"/>
            <a:ext cx="40690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90" b="0">
                <a:solidFill>
                  <a:srgbClr val="637182"/>
                </a:solidFill>
                <a:latin typeface="Aptos"/>
              </a:defRPr>
            </a:pPr>
            <a:r>
              <a:t>Uses RAG over IS codes, BOCW regulations, site SOPs and past incidents.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73752" y="3246120"/>
            <a:ext cx="0" cy="146304"/>
          </a:xfrm>
          <a:prstGeom prst="line">
            <a:avLst/>
          </a:prstGeom>
          <a:ln w="12700">
            <a:solidFill>
              <a:srgbClr val="14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17136" y="3419856"/>
            <a:ext cx="6784848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81728" y="3547872"/>
            <a:ext cx="384048" cy="384048"/>
          </a:xfrm>
          <a:prstGeom prst="ellipse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3648456"/>
            <a:ext cx="384048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529584"/>
            <a:ext cx="16002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01F31"/>
                </a:solidFill>
                <a:latin typeface="Aptos"/>
              </a:defRPr>
            </a:pPr>
            <a:r>
              <a:t>Root-Cause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3520440"/>
            <a:ext cx="40690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90" b="0">
                <a:solidFill>
                  <a:srgbClr val="637182"/>
                </a:solidFill>
                <a:latin typeface="Aptos"/>
              </a:defRPr>
            </a:pPr>
            <a:r>
              <a:t>Analyzes contributing factors using a construction-specific FMEA / 5-Why library.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873752" y="4041648"/>
            <a:ext cx="0" cy="146304"/>
          </a:xfrm>
          <a:prstGeom prst="line">
            <a:avLst/>
          </a:prstGeom>
          <a:ln w="12700">
            <a:solidFill>
              <a:srgbClr val="14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17136" y="4215384"/>
            <a:ext cx="6784848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81728" y="4343400"/>
            <a:ext cx="384048" cy="384048"/>
          </a:xfrm>
          <a:prstGeom prst="ellipse">
            <a:avLst/>
          </a:prstGeom>
          <a:solidFill>
            <a:srgbClr val="3FB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4443984"/>
            <a:ext cx="384048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4325112"/>
            <a:ext cx="16002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01F31"/>
                </a:solidFill>
                <a:latin typeface="Aptos"/>
              </a:defRPr>
            </a:pPr>
            <a:r>
              <a:t>Corrective Action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4315968"/>
            <a:ext cx="40690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90" b="0">
                <a:solidFill>
                  <a:srgbClr val="637182"/>
                </a:solidFill>
                <a:latin typeface="Aptos"/>
              </a:defRPr>
            </a:pPr>
            <a:r>
              <a:t>Drafts corrective and preventive actions (CAPA), owner and due date.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73752" y="4837176"/>
            <a:ext cx="0" cy="146304"/>
          </a:xfrm>
          <a:prstGeom prst="line">
            <a:avLst/>
          </a:prstGeom>
          <a:ln w="12700">
            <a:solidFill>
              <a:srgbClr val="14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517136" y="5010912"/>
            <a:ext cx="6784848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681728" y="5138928"/>
            <a:ext cx="384048" cy="384048"/>
          </a:xfrm>
          <a:prstGeom prst="ellipse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81728" y="5239512"/>
            <a:ext cx="384048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5120640"/>
            <a:ext cx="16002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01F31"/>
                </a:solidFill>
                <a:latin typeface="Aptos"/>
              </a:defRPr>
            </a:pPr>
            <a:r>
              <a:t>Escalation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7728" y="5111496"/>
            <a:ext cx="40690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90" b="0">
                <a:solidFill>
                  <a:srgbClr val="637182"/>
                </a:solidFill>
                <a:latin typeface="Aptos"/>
              </a:defRPr>
            </a:pPr>
            <a:r>
              <a:t>Automatically flags Critical or repeat violations to the responsible safety officer.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17136" y="5815584"/>
            <a:ext cx="6784848" cy="384048"/>
          </a:xfrm>
          <a:prstGeom prst="roundRect">
            <a:avLst/>
          </a:prstGeom>
          <a:solidFill>
            <a:srgbClr val="10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81728" y="5925312"/>
            <a:ext cx="6455664" cy="137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Incident report → Evidence retrieval → Root cause → CAPA → Escalation → Audit trail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6419088"/>
            <a:ext cx="11064240" cy="10972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" y="6492240"/>
            <a:ext cx="548640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19" b="0">
                <a:solidFill>
                  <a:srgbClr val="637182"/>
                </a:solidFill>
                <a:latin typeface="Aptos"/>
              </a:defRPr>
            </a:pPr>
            <a:r>
              <a:t>S K Sricharan  •  VIT Chennai  •  T-Series ID: 9984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45952" y="6492240"/>
            <a:ext cx="5029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19" b="0">
                <a:solidFill>
                  <a:srgbClr val="637182"/>
                </a:solidFill>
                <a:latin typeface="Aptos"/>
              </a:defRPr>
            </a:pPr>
            <a:r>
              <a:t>4/5</a:t>
            </a:r>
          </a:p>
        </p:txBody>
      </p:sp>
      <p:sp>
        <p:nvSpPr>
          <p:cNvPr id="54" name="Rounded Rectangle 53">
            <a:hlinkClick action="ppaction://hlinksldjump" r:id="rId2"/>
          </p:cNvPr>
          <p:cNvSpPr/>
          <p:nvPr/>
        </p:nvSpPr>
        <p:spPr>
          <a:xfrm>
            <a:off x="10195560" y="310896"/>
            <a:ext cx="694944" cy="292608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95560" y="384048"/>
            <a:ext cx="694944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00" b="1">
                <a:solidFill>
                  <a:srgbClr val="2D69C3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56" name="Rounded Rectangle 55">
            <a:hlinkClick action="ppaction://hlinksldjump" r:id="rId3"/>
          </p:cNvPr>
          <p:cNvSpPr/>
          <p:nvPr/>
        </p:nvSpPr>
        <p:spPr>
          <a:xfrm>
            <a:off x="10936224" y="310896"/>
            <a:ext cx="32004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36224" y="365760"/>
            <a:ext cx="32004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637182"/>
                </a:solidFill>
                <a:latin typeface="Aptos"/>
              </a:defRPr>
            </a:pPr>
            <a:r>
              <a:t>‹</a:t>
            </a:r>
          </a:p>
        </p:txBody>
      </p:sp>
      <p:sp>
        <p:nvSpPr>
          <p:cNvPr id="58" name="Rounded Rectangle 57">
            <a:hlinkClick action="ppaction://hlinksldjump" r:id="rId4"/>
          </p:cNvPr>
          <p:cNvSpPr/>
          <p:nvPr/>
        </p:nvSpPr>
        <p:spPr>
          <a:xfrm>
            <a:off x="11301984" y="310896"/>
            <a:ext cx="32004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301984" y="365760"/>
            <a:ext cx="32004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637182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01752"/>
            <a:ext cx="20116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50" b="1">
                <a:solidFill>
                  <a:srgbClr val="149991"/>
                </a:solidFill>
                <a:latin typeface="Aptos"/>
              </a:defRPr>
            </a:pPr>
            <a:r>
              <a:t>PROJECT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94360"/>
            <a:ext cx="1078992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400" b="1">
                <a:solidFill>
                  <a:srgbClr val="101F31"/>
                </a:solidFill>
                <a:latin typeface="Aptos"/>
              </a:defRPr>
            </a:pPr>
            <a:r>
              <a:t>Dataset, Technical Stack &amp; Expected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61288"/>
            <a:ext cx="1051560" cy="32004"/>
          </a:xfrm>
          <a:prstGeom prst="rect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373075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8580" cy="4754880"/>
          </a:xfrm>
          <a:prstGeom prst="rect">
            <a:avLst/>
          </a:prstGeom>
          <a:solidFill>
            <a:srgbClr val="14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17904"/>
            <a:ext cx="341071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220" b="1">
                <a:solidFill>
                  <a:srgbClr val="101F31"/>
                </a:solidFill>
                <a:latin typeface="Aptos"/>
              </a:defRPr>
            </a:pPr>
            <a:r>
              <a:t>Dataset — Generation &amp;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321868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49991"/>
                </a:solidFill>
                <a:latin typeface="Aptos"/>
              </a:defRPr>
            </a:pPr>
            <a:r>
              <a:t>Synthetic incident corpus: 5,000–15,000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39696"/>
            <a:ext cx="3218688" cy="1783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232F3D"/>
                </a:solidFill>
                <a:latin typeface="Aptos"/>
              </a:defRPr>
            </a:pPr>
            <a:r>
              <a:t>• Daily Progress Reports (DPRs), safety observations and near-miss reports.</a:t>
            </a:r>
          </a:p>
          <a:p>
            <a:pPr>
              <a:spcAft>
                <a:spcPts val="400"/>
              </a:spcAft>
              <a:defRPr sz="919">
                <a:solidFill>
                  <a:srgbClr val="232F3D"/>
                </a:solidFill>
                <a:latin typeface="Aptos"/>
              </a:defRPr>
            </a:pPr>
            <a:r>
              <a:t>• Quality Non-Conformance Reports (NCRs).</a:t>
            </a:r>
          </a:p>
          <a:p>
            <a:pPr>
              <a:spcAft>
                <a:spcPts val="400"/>
              </a:spcAft>
              <a:defRPr sz="919">
                <a:solidFill>
                  <a:srgbClr val="232F3D"/>
                </a:solidFill>
                <a:latin typeface="Aptos"/>
              </a:defRPr>
            </a:pPr>
            <a:r>
              <a:t>• Site, contractor, trade and severity metadata.</a:t>
            </a:r>
          </a:p>
          <a:p>
            <a:pPr>
              <a:spcAft>
                <a:spcPts val="400"/>
              </a:spcAft>
              <a:defRPr sz="919">
                <a:solidFill>
                  <a:srgbClr val="232F3D"/>
                </a:solidFill>
                <a:latin typeface="Aptos"/>
              </a:defRPr>
            </a:pPr>
            <a:r>
              <a:t>• CAPA records and historical incident patterns across multiple sites / trades.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321868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49991"/>
                </a:solidFill>
                <a:latin typeface="Aptos"/>
              </a:defRPr>
            </a:pPr>
            <a:r>
              <a:t>How it is generated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61688"/>
            <a:ext cx="3218688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80" b="0">
                <a:solidFill>
                  <a:srgbClr val="637182"/>
                </a:solidFill>
                <a:latin typeface="Aptos"/>
              </a:defRPr>
            </a:pPr>
            <a:r>
              <a:t>Generate realistic templates and scenario variations in Python to simulate different trades, hazards, severity levels and repeat-violation patterns; standards and SOPs form the RAG knowledge corpus.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02352"/>
            <a:ext cx="321868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49991"/>
                </a:solidFill>
                <a:latin typeface="Aptos"/>
              </a:defRPr>
            </a:pPr>
            <a:r>
              <a:t>Relevance to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85816"/>
            <a:ext cx="3218688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80" b="0">
                <a:solidFill>
                  <a:srgbClr val="637182"/>
                </a:solidFill>
                <a:latin typeface="Aptos"/>
              </a:defRPr>
            </a:pPr>
            <a:r>
              <a:t>The data supports report structuring, standards retrieval, root-cause analysis, CAPA generation, repeat-case detection and escalation 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7136" y="1389888"/>
            <a:ext cx="354787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17136" y="1389888"/>
            <a:ext cx="68580" cy="4754880"/>
          </a:xfrm>
          <a:prstGeom prst="rect">
            <a:avLst/>
          </a:prstGeom>
          <a:solidFill>
            <a:srgbClr val="3FB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517904"/>
            <a:ext cx="32278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220" b="1">
                <a:solidFill>
                  <a:srgbClr val="101F31"/>
                </a:solidFill>
                <a:latin typeface="Aptos"/>
              </a:defRPr>
            </a:pPr>
            <a:r>
              <a:t>Technical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6592" y="1865376"/>
            <a:ext cx="3090672" cy="493776"/>
          </a:xfrm>
          <a:prstGeom prst="roundRect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5464" y="1938528"/>
            <a:ext cx="10058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0" b="1">
                <a:solidFill>
                  <a:srgbClr val="149991"/>
                </a:solidFill>
                <a:latin typeface="Aptos"/>
              </a:defRPr>
            </a:pPr>
            <a:r>
              <a:t>Agent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1929384"/>
            <a:ext cx="175564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25" b="0">
                <a:solidFill>
                  <a:srgbClr val="232F3D"/>
                </a:solidFill>
                <a:latin typeface="Aptos"/>
              </a:defRPr>
            </a:pPr>
            <a:r>
              <a:t>LangGraph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6592" y="2432304"/>
            <a:ext cx="3090672" cy="493776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505456"/>
            <a:ext cx="10058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0" b="1">
                <a:solidFill>
                  <a:srgbClr val="2D69C3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2496312"/>
            <a:ext cx="175564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25" b="0">
                <a:solidFill>
                  <a:srgbClr val="232F3D"/>
                </a:solidFill>
                <a:latin typeface="Aptos"/>
              </a:defRPr>
            </a:pPr>
            <a:r>
              <a:t>Ollama + Llama 3.1 8B (local) / Azure OpenAI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2999232"/>
            <a:ext cx="3090672" cy="493776"/>
          </a:xfrm>
          <a:prstGeom prst="roundRect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55464" y="3072384"/>
            <a:ext cx="10058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0" b="1">
                <a:solidFill>
                  <a:srgbClr val="149991"/>
                </a:solidFill>
                <a:latin typeface="Aptos"/>
              </a:defRPr>
            </a:pPr>
            <a:r>
              <a:t>Knowledge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7024" y="3063240"/>
            <a:ext cx="175564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25" b="0">
                <a:solidFill>
                  <a:srgbClr val="232F3D"/>
                </a:solidFill>
                <a:latin typeface="Aptos"/>
              </a:defRPr>
            </a:pPr>
            <a:r>
              <a:t>ChromaDB / Qdrant + Sentence Transformers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36592" y="3566160"/>
            <a:ext cx="3090672" cy="493776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5464" y="3639312"/>
            <a:ext cx="10058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0" b="1">
                <a:solidFill>
                  <a:srgbClr val="2D69C3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7024" y="3630168"/>
            <a:ext cx="175564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25" b="0">
                <a:solidFill>
                  <a:srgbClr val="232F3D"/>
                </a:solidFill>
                <a:latin typeface="Aptos"/>
              </a:defRPr>
            </a:pPr>
            <a:r>
              <a:t>FastAPI + Pydantic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36592" y="4133088"/>
            <a:ext cx="3090672" cy="493776"/>
          </a:xfrm>
          <a:prstGeom prst="roundRect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55464" y="4206240"/>
            <a:ext cx="10058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0" b="1">
                <a:solidFill>
                  <a:srgbClr val="149991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7024" y="4197096"/>
            <a:ext cx="175564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25" b="0">
                <a:solidFill>
                  <a:srgbClr val="232F3D"/>
                </a:solidFill>
                <a:latin typeface="Aptos"/>
              </a:defRPr>
            </a:pPr>
            <a:r>
              <a:t>Streamlit / React — queue, reasoning trace, CAPA tracker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36592" y="4700016"/>
            <a:ext cx="3090672" cy="493776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55464" y="4773168"/>
            <a:ext cx="10058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0" b="1">
                <a:solidFill>
                  <a:srgbClr val="2D69C3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7024" y="4764024"/>
            <a:ext cx="175564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25" b="0">
                <a:solidFill>
                  <a:srgbClr val="232F3D"/>
                </a:solidFill>
                <a:latin typeface="Aptos"/>
              </a:defRPr>
            </a:pPr>
            <a:r>
              <a:t>PostgreSQL — incidents, CAPA, audit trail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36592" y="5266944"/>
            <a:ext cx="3090672" cy="493776"/>
          </a:xfrm>
          <a:prstGeom prst="roundRect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55464" y="5340096"/>
            <a:ext cx="10058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0" b="1">
                <a:solidFill>
                  <a:srgbClr val="149991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7024" y="5330952"/>
            <a:ext cx="175564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25" b="0">
                <a:solidFill>
                  <a:srgbClr val="232F3D"/>
                </a:solidFill>
                <a:latin typeface="Aptos"/>
              </a:defRPr>
            </a:pPr>
            <a:r>
              <a:t>Docker Compose → Azure Container Instances / AKS, or fully local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6175" y="1389888"/>
            <a:ext cx="3346704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66175" y="1389888"/>
            <a:ext cx="68580" cy="4754880"/>
          </a:xfrm>
          <a:prstGeom prst="rect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49055" y="1517904"/>
            <a:ext cx="3026664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220" b="1">
                <a:solidFill>
                  <a:srgbClr val="101F31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43" name="Oval 42"/>
          <p:cNvSpPr/>
          <p:nvPr/>
        </p:nvSpPr>
        <p:spPr>
          <a:xfrm>
            <a:off x="8485632" y="1865376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14816" y="1828800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25" b="1">
                <a:solidFill>
                  <a:srgbClr val="101F31"/>
                </a:solidFill>
                <a:latin typeface="Aptos"/>
              </a:defRPr>
            </a:pPr>
            <a:r>
              <a:t>Faster incident triage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14816" y="2029968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5" b="0">
                <a:solidFill>
                  <a:srgbClr val="637182"/>
                </a:solidFill>
                <a:latin typeface="Aptos"/>
              </a:defRPr>
            </a:pPr>
            <a:r>
              <a:t>Reduce time spent manually searching standards and history.</a:t>
            </a:r>
          </a:p>
        </p:txBody>
      </p:sp>
      <p:sp>
        <p:nvSpPr>
          <p:cNvPr id="46" name="Oval 45"/>
          <p:cNvSpPr/>
          <p:nvPr/>
        </p:nvSpPr>
        <p:spPr>
          <a:xfrm>
            <a:off x="8485632" y="2496312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14816" y="2459736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25" b="1">
                <a:solidFill>
                  <a:srgbClr val="101F31"/>
                </a:solidFill>
                <a:latin typeface="Aptos"/>
              </a:defRPr>
            </a:pPr>
            <a:r>
              <a:t>Consistent evidence 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14816" y="2660904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5" b="0">
                <a:solidFill>
                  <a:srgbClr val="637182"/>
                </a:solidFill>
                <a:latin typeface="Aptos"/>
              </a:defRPr>
            </a:pPr>
            <a:r>
              <a:t>Ground analysis in IS codes, BOCW norms and site SOPs.</a:t>
            </a:r>
          </a:p>
        </p:txBody>
      </p:sp>
      <p:sp>
        <p:nvSpPr>
          <p:cNvPr id="49" name="Oval 48"/>
          <p:cNvSpPr/>
          <p:nvPr/>
        </p:nvSpPr>
        <p:spPr>
          <a:xfrm>
            <a:off x="8485632" y="3127248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14816" y="3090672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25" b="1">
                <a:solidFill>
                  <a:srgbClr val="101F31"/>
                </a:solidFill>
                <a:latin typeface="Aptos"/>
              </a:defRPr>
            </a:pPr>
            <a:r>
              <a:t>Structured root cause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14816" y="3291840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5" b="0">
                <a:solidFill>
                  <a:srgbClr val="637182"/>
                </a:solidFill>
                <a:latin typeface="Aptos"/>
              </a:defRPr>
            </a:pPr>
            <a:r>
              <a:t>Apply repeatable FMEA / 5-Why reasoning.</a:t>
            </a:r>
          </a:p>
        </p:txBody>
      </p:sp>
      <p:sp>
        <p:nvSpPr>
          <p:cNvPr id="52" name="Oval 51"/>
          <p:cNvSpPr/>
          <p:nvPr/>
        </p:nvSpPr>
        <p:spPr>
          <a:xfrm>
            <a:off x="8485632" y="3758184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14816" y="3721608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25" b="1">
                <a:solidFill>
                  <a:srgbClr val="101F31"/>
                </a:solidFill>
                <a:latin typeface="Aptos"/>
              </a:defRPr>
            </a:pPr>
            <a:r>
              <a:t>Actionable CAPA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14816" y="3922776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5" b="0">
                <a:solidFill>
                  <a:srgbClr val="637182"/>
                </a:solidFill>
                <a:latin typeface="Aptos"/>
              </a:defRPr>
            </a:pPr>
            <a:r>
              <a:t>Generate action, responsible party and due date.</a:t>
            </a:r>
          </a:p>
        </p:txBody>
      </p:sp>
      <p:sp>
        <p:nvSpPr>
          <p:cNvPr id="55" name="Oval 54"/>
          <p:cNvSpPr/>
          <p:nvPr/>
        </p:nvSpPr>
        <p:spPr>
          <a:xfrm>
            <a:off x="8485632" y="4389120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14816" y="4352544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25" b="1">
                <a:solidFill>
                  <a:srgbClr val="101F31"/>
                </a:solidFill>
                <a:latin typeface="Aptos"/>
              </a:defRPr>
            </a:pPr>
            <a:r>
              <a:t>Early escalation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14816" y="4553712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5" b="0">
                <a:solidFill>
                  <a:srgbClr val="637182"/>
                </a:solidFill>
                <a:latin typeface="Aptos"/>
              </a:defRPr>
            </a:pPr>
            <a:r>
              <a:t>Surface Critical and repeat violations quickly.</a:t>
            </a:r>
          </a:p>
        </p:txBody>
      </p:sp>
      <p:sp>
        <p:nvSpPr>
          <p:cNvPr id="58" name="Oval 57"/>
          <p:cNvSpPr/>
          <p:nvPr/>
        </p:nvSpPr>
        <p:spPr>
          <a:xfrm>
            <a:off x="8485632" y="5020055"/>
            <a:ext cx="228600" cy="228600"/>
          </a:xfrm>
          <a:prstGeom prst="ellipse">
            <a:avLst/>
          </a:prstGeom>
          <a:solidFill>
            <a:srgbClr val="2D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14816" y="4983479"/>
            <a:ext cx="25146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25" b="1">
                <a:solidFill>
                  <a:srgbClr val="101F31"/>
                </a:solidFill>
                <a:latin typeface="Aptos"/>
              </a:defRPr>
            </a:pPr>
            <a:r>
              <a:t>Traceability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14816" y="5184647"/>
            <a:ext cx="246888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795" b="0">
                <a:solidFill>
                  <a:srgbClr val="637182"/>
                </a:solidFill>
                <a:latin typeface="Aptos"/>
              </a:defRPr>
            </a:pPr>
            <a:r>
              <a:t>Maintain agent reasoning trace, CAPA status and audit history.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6419088"/>
            <a:ext cx="11064240" cy="10972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6492240"/>
            <a:ext cx="548640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19" b="0">
                <a:solidFill>
                  <a:srgbClr val="637182"/>
                </a:solidFill>
                <a:latin typeface="Aptos"/>
              </a:defRPr>
            </a:pPr>
            <a:r>
              <a:t>S K Sricharan  •  VIT Chennai  •  T-Series ID: 9984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45952" y="6492240"/>
            <a:ext cx="5029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19" b="0">
                <a:solidFill>
                  <a:srgbClr val="637182"/>
                </a:solidFill>
                <a:latin typeface="Aptos"/>
              </a:defRPr>
            </a:pPr>
            <a:r>
              <a:t>5/5</a:t>
            </a:r>
          </a:p>
        </p:txBody>
      </p:sp>
      <p:sp>
        <p:nvSpPr>
          <p:cNvPr id="64" name="Rounded Rectangle 63">
            <a:hlinkClick action="ppaction://hlinksldjump" r:id="rId2"/>
          </p:cNvPr>
          <p:cNvSpPr/>
          <p:nvPr/>
        </p:nvSpPr>
        <p:spPr>
          <a:xfrm>
            <a:off x="10195560" y="310896"/>
            <a:ext cx="694944" cy="292608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95560" y="384048"/>
            <a:ext cx="694944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700" b="1">
                <a:solidFill>
                  <a:srgbClr val="2D69C3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66" name="Rounded Rectangle 65">
            <a:hlinkClick action="ppaction://hlinksldjump" r:id="rId3"/>
          </p:cNvPr>
          <p:cNvSpPr/>
          <p:nvPr/>
        </p:nvSpPr>
        <p:spPr>
          <a:xfrm>
            <a:off x="10936224" y="310896"/>
            <a:ext cx="32004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B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936224" y="365760"/>
            <a:ext cx="32004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637182"/>
                </a:solidFill>
                <a:latin typeface="Aptos"/>
              </a:defRPr>
            </a:pPr>
            <a:r>
              <a:t>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 Sense &amp; Site Guard AI — Zeroth Review</dc:title>
  <dc:subject>Project 1 and Project 2</dc:subject>
  <dc:creator>S K Sricharan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